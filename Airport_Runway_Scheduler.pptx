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541a3d-6394-5afc-1de4-ab59f6f5a808}">
          <p14:sldIdLst>
            <p14:sldId id="256"/>
            <p14:sldId id="257"/>
            <p14:sldId id="258"/>
          </p14:sldIdLst>
        </p14:section>
        <p14:section name="Modules" id="{3e279edf-b590-26bf-439f-82f5f02ecece}">
          <p14:sldIdLst>
            <p14:sldId id="259"/>
            <p14:sldId id="260"/>
            <p14:sldId id="261"/>
            <p14:sldId id="262"/>
            <p14:sldId id="263"/>
            <p14:sldId id="264"/>
          </p14:sldIdLst>
        </p14:section>
        <p14:section name="Wrap-up" id="{67aa8b16-fb83-08ab-157b-f084e22da288}">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Java and Data Structures team project that schedules landings and takeoffs on a runway using a custom priority queue. Four members, each owning one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runway can serve only one flight at a time. Normal flights wait in FIFO order, but an emergency flight must bypass the waiting flights. Completed events also need to be stored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The UI collects input and shows the queue. The core logic holds the Aircraft model, the Node and the custom FlightQueue. File handling and testing sit alongside, logging events and verifying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owns one module and can explain it in 30 seconds. Justin: Aircraft. Elna: Node and FlightQueue. Sruthika: RunwayUI. Devika: FileHandler and TestRunway.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answer: I built the Aircraft class using core OOP principles. I used encapsulation to bundle flight attributes together and polymorphism by overriding toString() from the Object class to format the flight details for the GUI and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answer: I implemented the core data structure, a custom singly linked list priority queue. Normal flights join at the tail in FIFO order, while emergency flights jump directly to the head. Dequeue always removes from the head. All operations execute in constant O(1) time without array resizing or element shifting.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sketch, not a screenshot. Viva answer: I developed the Swing GUI using JFrame, setBounds and ActionListener following the standard layout taught in class. My code interfaces the form inputs with the queue and triggers dequeue when the runway is cleared, logging every action to the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answer: I implemented file persistence and test verification. I used FileWriter with append equal to true to preserve runway history in runway_log.txt. I also wrote TestRunway.java to test edge cases, such as verifying that emergency flights bypass waiting flights and confirming the system handles empty queues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queue is a linked list with both front and rear pointers, every operation touches only one end. There is no resizing or shifting as there would be with an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layout. Each Java file is tagged with its owner. Extras include a one-click run script, a viva guide and a README with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 fair, fast, persistent and tested runway scheduler.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603504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880360"/>
            <a:ext cx="6035040" cy="45720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Airport Runway Scheduling System</a:t>
            </a:r>
            <a:endParaRPr lang="en-US" sz="1000" dirty="0"/>
          </a:p>
        </p:txBody>
      </p:sp>
      <p:sp>
        <p:nvSpPr>
          <p:cNvPr id="3" name="Text 1"/>
          <p:cNvSpPr/>
          <p:nvPr>
            <p:ph idx="101" type="title" hasCustomPrompt="1"/>
          </p:nvPr>
        </p:nvSpPr>
        <p:spPr>
          <a:xfrm>
            <a:off x="457200" y="320040"/>
            <a:ext cx="82296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Airport Runway Scheduling System</a:t>
            </a:r>
            <a:endParaRPr lang="en-US" sz="1000" dirty="0"/>
          </a:p>
        </p:txBody>
      </p:sp>
      <p:sp>
        <p:nvSpPr>
          <p:cNvPr id="3" name="Text 1"/>
          <p:cNvSpPr/>
          <p:nvPr>
            <p:ph idx="101" type="title" hasCustomPrompt="1"/>
          </p:nvPr>
        </p:nvSpPr>
        <p:spPr>
          <a:xfrm>
            <a:off x="457200" y="32004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6035040" cy="1645920"/>
          </a:xfrm>
          <a:prstGeom prst="rect">
            <a:avLst/>
          </a:prstGeom>
          <a:noFill/>
          <a:ln/>
        </p:spPr>
        <p:txBody>
          <a:bodyPr wrap="square" lIns="0" tIns="0" rIns="0" bIns="0" rtlCol="0" anchor="b"/>
          <a:lstStyle/>
          <a:p>
            <a:pPr algn="l" indent="0" marL="0">
              <a:buNone/>
            </a:pPr>
            <a:r>
              <a:rPr lang="en-US" sz="4400" b="1" dirty="0">
                <a:solidFill>
                  <a:schemeClr val="bg1"/>
                </a:solidFill>
              </a:rPr>
              <a:t>Airport Runway Scheduling System</a:t>
            </a:r>
            <a:endParaRPr lang="en-US" sz="4400" dirty="0"/>
          </a:p>
        </p:txBody>
      </p:sp>
      <p:sp>
        <p:nvSpPr>
          <p:cNvPr id="3" name="Text 0"/>
          <p:cNvSpPr/>
          <p:nvPr>
            <p:ph idx="101" type="body" hasCustomPrompt="1"/>
          </p:nvPr>
        </p:nvSpPr>
        <p:spPr>
          <a:xfrm>
            <a:off x="548640" y="2880360"/>
            <a:ext cx="6035040" cy="457200"/>
          </a:xfrm>
          <a:prstGeom prst="rect">
            <a:avLst/>
          </a:prstGeom>
          <a:noFill/>
          <a:ln/>
        </p:spPr>
        <p:txBody>
          <a:bodyPr wrap="square" lIns="0" tIns="0" rIns="0" bIns="0" rtlCol="0" anchor="t"/>
          <a:lstStyle/>
          <a:p>
            <a:pPr algn="l" indent="0" marL="0">
              <a:buNone/>
            </a:pPr>
            <a:r>
              <a:rPr lang="en-US" sz="2000" dirty="0">
                <a:solidFill>
                  <a:schemeClr val="accent1"/>
                </a:solidFill>
              </a:rPr>
              <a:t>Java · Data Structures · OOP</a:t>
            </a:r>
            <a:endParaRPr lang="en-US" sz="2000" dirty="0"/>
          </a:p>
        </p:txBody>
      </p:sp>
      <p:sp>
        <p:nvSpPr>
          <p:cNvPr id="4" name="text-1"/>
          <p:cNvSpPr txBox="1"/>
          <p:nvPr/>
        </p:nvSpPr>
        <p:spPr>
          <a:xfrm>
            <a:off x="548640" y="3566160"/>
            <a:ext cx="6035040" cy="365760"/>
          </a:xfrm>
          <a:prstGeom prst="rect">
            <a:avLst/>
          </a:prstGeom>
          <a:noFill/>
          <a:ln/>
        </p:spPr>
        <p:txBody>
          <a:bodyPr wrap="square" lIns="0" tIns="0" rIns="0" bIns="0" rtlCol="0" anchor="t"/>
          <a:lstStyle/>
          <a:p>
            <a:pPr indent="0" marL="0">
              <a:buNone/>
            </a:pPr>
            <a:r>
              <a:rPr lang="en-US" sz="1600" dirty="0">
                <a:solidFill>
                  <a:schemeClr val="bg2"/>
                </a:solidFill>
              </a:rPr>
              <a:t>Justin  ·  Elna  ·  Sruthika  ·  Devika</a:t>
            </a:r>
            <a:endParaRPr lang="en-US" sz="1600" dirty="0"/>
          </a:p>
        </p:txBody>
      </p:sp>
      <p:sp>
        <p:nvSpPr>
          <p:cNvPr id="5" name="icon-bg-2"/>
          <p:cNvSpPr/>
          <p:nvPr/>
        </p:nvSpPr>
        <p:spPr>
          <a:xfrm>
            <a:off x="7040880" y="1188720"/>
            <a:ext cx="1371600" cy="1371600"/>
          </a:xfrm>
          <a:prstGeom prst="ellipse">
            <a:avLst/>
          </a:prstGeom>
          <a:solidFill>
            <a:schemeClr val="accent1"/>
          </a:solidFill>
          <a:ln w="12700">
            <a:solidFill>
              <a:schemeClr val="accent1"/>
            </a:solidFill>
            <a:prstDash val="solid"/>
          </a:ln>
        </p:spPr>
      </p:sp>
      <p:pic>
        <p:nvPicPr>
          <p:cNvPr id="6" name="icon-3" descr="icon">    </p:cNvPr>
          <p:cNvPicPr>
            <a:picLocks noChangeAspect="1"/>
          </p:cNvPicPr>
          <p:nvPr/>
        </p:nvPicPr>
        <p:blipFill>
          <a:blip r:embed="rId1"/>
          <a:stretch>
            <a:fillRect/>
          </a:stretch>
        </p:blipFill>
        <p:spPr>
          <a:xfrm>
            <a:off x="7383780" y="1531620"/>
            <a:ext cx="685800" cy="685800"/>
          </a:xfrm>
          <a:prstGeom prst="rect">
            <a:avLst/>
          </a:prstGeom>
        </p:spPr>
      </p:pic>
      <p:sp>
        <p:nvSpPr>
          <p:cNvPr id="7" name="runway-dash-4"/>
          <p:cNvSpPr/>
          <p:nvPr/>
        </p:nvSpPr>
        <p:spPr>
          <a:xfrm>
            <a:off x="548640" y="4434840"/>
            <a:ext cx="502920" cy="82296"/>
          </a:xfrm>
          <a:prstGeom prst="roundRect">
            <a:avLst>
              <a:gd name="adj" fmla="val 44444"/>
            </a:avLst>
          </a:prstGeom>
          <a:solidFill>
            <a:schemeClr val="bg2">
              <a:alpha val="45000"/>
            </a:schemeClr>
          </a:solidFill>
          <a:ln w="12700">
            <a:solidFill>
              <a:schemeClr val="bg2"/>
            </a:solidFill>
            <a:prstDash val="solid"/>
          </a:ln>
        </p:spPr>
      </p:sp>
      <p:sp>
        <p:nvSpPr>
          <p:cNvPr id="8" name="runway-dash-5"/>
          <p:cNvSpPr/>
          <p:nvPr/>
        </p:nvSpPr>
        <p:spPr>
          <a:xfrm>
            <a:off x="1399032" y="4434840"/>
            <a:ext cx="502920" cy="82296"/>
          </a:xfrm>
          <a:prstGeom prst="roundRect">
            <a:avLst>
              <a:gd name="adj" fmla="val 44444"/>
            </a:avLst>
          </a:prstGeom>
          <a:solidFill>
            <a:schemeClr val="bg2">
              <a:alpha val="45000"/>
            </a:schemeClr>
          </a:solidFill>
          <a:ln w="12700">
            <a:solidFill>
              <a:schemeClr val="bg2"/>
            </a:solidFill>
            <a:prstDash val="solid"/>
          </a:ln>
        </p:spPr>
      </p:sp>
      <p:sp>
        <p:nvSpPr>
          <p:cNvPr id="9" name="runway-dash-6"/>
          <p:cNvSpPr/>
          <p:nvPr/>
        </p:nvSpPr>
        <p:spPr>
          <a:xfrm>
            <a:off x="2249424" y="4434840"/>
            <a:ext cx="502920" cy="82296"/>
          </a:xfrm>
          <a:prstGeom prst="roundRect">
            <a:avLst>
              <a:gd name="adj" fmla="val 44444"/>
            </a:avLst>
          </a:prstGeom>
          <a:solidFill>
            <a:schemeClr val="bg2">
              <a:alpha val="45000"/>
            </a:schemeClr>
          </a:solidFill>
          <a:ln w="12700">
            <a:solidFill>
              <a:schemeClr val="bg2"/>
            </a:solidFill>
            <a:prstDash val="solid"/>
          </a:ln>
        </p:spPr>
      </p:sp>
      <p:sp>
        <p:nvSpPr>
          <p:cNvPr id="10" name="runway-dash-7"/>
          <p:cNvSpPr/>
          <p:nvPr/>
        </p:nvSpPr>
        <p:spPr>
          <a:xfrm>
            <a:off x="3099816" y="4434840"/>
            <a:ext cx="502920" cy="82296"/>
          </a:xfrm>
          <a:prstGeom prst="roundRect">
            <a:avLst>
              <a:gd name="adj" fmla="val 44444"/>
            </a:avLst>
          </a:prstGeom>
          <a:solidFill>
            <a:schemeClr val="bg2">
              <a:alpha val="45000"/>
            </a:schemeClr>
          </a:solidFill>
          <a:ln w="12700">
            <a:solidFill>
              <a:schemeClr val="bg2"/>
            </a:solidFill>
            <a:prstDash val="solid"/>
          </a:ln>
        </p:spPr>
      </p:sp>
      <p:sp>
        <p:nvSpPr>
          <p:cNvPr id="11" name="runway-dash-8"/>
          <p:cNvSpPr/>
          <p:nvPr/>
        </p:nvSpPr>
        <p:spPr>
          <a:xfrm>
            <a:off x="3950208" y="4434840"/>
            <a:ext cx="502920" cy="82296"/>
          </a:xfrm>
          <a:prstGeom prst="roundRect">
            <a:avLst>
              <a:gd name="adj" fmla="val 44444"/>
            </a:avLst>
          </a:prstGeom>
          <a:solidFill>
            <a:schemeClr val="bg2">
              <a:alpha val="45000"/>
            </a:schemeClr>
          </a:solidFill>
          <a:ln w="12700">
            <a:solidFill>
              <a:schemeClr val="bg2"/>
            </a:solidFill>
            <a:prstDash val="solid"/>
          </a:ln>
        </p:spPr>
      </p:sp>
      <p:sp>
        <p:nvSpPr>
          <p:cNvPr id="12" name="runway-dash-9"/>
          <p:cNvSpPr/>
          <p:nvPr/>
        </p:nvSpPr>
        <p:spPr>
          <a:xfrm>
            <a:off x="4800600" y="4434840"/>
            <a:ext cx="502920" cy="82296"/>
          </a:xfrm>
          <a:prstGeom prst="roundRect">
            <a:avLst>
              <a:gd name="adj" fmla="val 44444"/>
            </a:avLst>
          </a:prstGeom>
          <a:solidFill>
            <a:schemeClr val="bg2">
              <a:alpha val="45000"/>
            </a:schemeClr>
          </a:solidFill>
          <a:ln w="12700">
            <a:solidFill>
              <a:schemeClr val="bg2"/>
            </a:solidFill>
            <a:prstDash val="solid"/>
          </a:ln>
        </p:spPr>
      </p:sp>
      <p:sp>
        <p:nvSpPr>
          <p:cNvPr id="13" name="runway-dash-10"/>
          <p:cNvSpPr/>
          <p:nvPr/>
        </p:nvSpPr>
        <p:spPr>
          <a:xfrm>
            <a:off x="5650992" y="4434840"/>
            <a:ext cx="502920" cy="82296"/>
          </a:xfrm>
          <a:prstGeom prst="roundRect">
            <a:avLst>
              <a:gd name="adj" fmla="val 44444"/>
            </a:avLst>
          </a:prstGeom>
          <a:solidFill>
            <a:schemeClr val="bg2">
              <a:alpha val="45000"/>
            </a:schemeClr>
          </a:solidFill>
          <a:ln w="12700">
            <a:solidFill>
              <a:schemeClr val="bg2"/>
            </a:solidFill>
            <a:prstDash val="solid"/>
          </a:ln>
        </p:spPr>
      </p:sp>
      <p:sp>
        <p:nvSpPr>
          <p:cNvPr id="14" name="runway-dash-11"/>
          <p:cNvSpPr/>
          <p:nvPr/>
        </p:nvSpPr>
        <p:spPr>
          <a:xfrm>
            <a:off x="6501384" y="4434840"/>
            <a:ext cx="502920" cy="82296"/>
          </a:xfrm>
          <a:prstGeom prst="roundRect">
            <a:avLst>
              <a:gd name="adj" fmla="val 44444"/>
            </a:avLst>
          </a:prstGeom>
          <a:solidFill>
            <a:schemeClr val="bg2">
              <a:alpha val="45000"/>
            </a:schemeClr>
          </a:solidFill>
          <a:ln w="12700">
            <a:solidFill>
              <a:schemeClr val="bg2"/>
            </a:solidFill>
            <a:prstDash val="solid"/>
          </a:ln>
        </p:spPr>
      </p:sp>
      <p:sp>
        <p:nvSpPr>
          <p:cNvPr id="15" name="runway-dash-12"/>
          <p:cNvSpPr/>
          <p:nvPr/>
        </p:nvSpPr>
        <p:spPr>
          <a:xfrm>
            <a:off x="7351776" y="4434840"/>
            <a:ext cx="502920" cy="82296"/>
          </a:xfrm>
          <a:prstGeom prst="roundRect">
            <a:avLst>
              <a:gd name="adj" fmla="val 44444"/>
            </a:avLst>
          </a:prstGeom>
          <a:solidFill>
            <a:schemeClr val="bg2">
              <a:alpha val="45000"/>
            </a:schemeClr>
          </a:solidFill>
          <a:ln w="12700">
            <a:solidFill>
              <a:schemeClr val="bg2"/>
            </a:solidFill>
            <a:prstDash val="solid"/>
          </a:ln>
        </p:spPr>
      </p:sp>
      <p:sp>
        <p:nvSpPr>
          <p:cNvPr id="16" name="runway-dash-13"/>
          <p:cNvSpPr/>
          <p:nvPr/>
        </p:nvSpPr>
        <p:spPr>
          <a:xfrm>
            <a:off x="8202168" y="4434840"/>
            <a:ext cx="502920" cy="82296"/>
          </a:xfrm>
          <a:prstGeom prst="roundRect">
            <a:avLst>
              <a:gd name="adj" fmla="val 44444"/>
            </a:avLst>
          </a:prstGeom>
          <a:solidFill>
            <a:schemeClr val="bg2">
              <a:alpha val="45000"/>
            </a:schemeClr>
          </a:solidFill>
          <a:ln w="12700">
            <a:solidFill>
              <a:schemeClr val="bg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runway problem</a:t>
            </a:r>
            <a:endParaRPr lang="en-US" sz="3400" dirty="0"/>
          </a:p>
        </p:txBody>
      </p:sp>
      <p:sp>
        <p:nvSpPr>
          <p:cNvPr id="3" name="icon-bg-14"/>
          <p:cNvSpPr/>
          <p:nvPr/>
        </p:nvSpPr>
        <p:spPr>
          <a:xfrm>
            <a:off x="457200" y="1371600"/>
            <a:ext cx="640080" cy="640080"/>
          </a:xfrm>
          <a:prstGeom prst="ellipse">
            <a:avLst/>
          </a:prstGeom>
          <a:solidFill>
            <a:schemeClr val="accent2"/>
          </a:solidFill>
          <a:ln w="12700">
            <a:solidFill>
              <a:schemeClr val="accent2"/>
            </a:solidFill>
            <a:prstDash val="solid"/>
          </a:ln>
        </p:spPr>
      </p:sp>
      <p:pic>
        <p:nvPicPr>
          <p:cNvPr id="4" name="icon-15" descr="icon">    </p:cNvPr>
          <p:cNvPicPr>
            <a:picLocks noChangeAspect="1"/>
          </p:cNvPicPr>
          <p:nvPr/>
        </p:nvPicPr>
        <p:blipFill>
          <a:blip r:embed="rId1"/>
          <a:stretch>
            <a:fillRect/>
          </a:stretch>
        </p:blipFill>
        <p:spPr>
          <a:xfrm>
            <a:off x="617220" y="1531620"/>
            <a:ext cx="320040" cy="320040"/>
          </a:xfrm>
          <a:prstGeom prst="rect">
            <a:avLst/>
          </a:prstGeom>
        </p:spPr>
      </p:pic>
      <p:sp>
        <p:nvSpPr>
          <p:cNvPr id="5" name="text-16"/>
          <p:cNvSpPr txBox="1"/>
          <p:nvPr/>
        </p:nvSpPr>
        <p:spPr>
          <a:xfrm>
            <a:off x="1280160" y="1371600"/>
            <a:ext cx="3931920" cy="320040"/>
          </a:xfrm>
          <a:prstGeom prst="rect">
            <a:avLst/>
          </a:prstGeom>
          <a:noFill/>
          <a:ln/>
        </p:spPr>
        <p:txBody>
          <a:bodyPr wrap="square" lIns="0" tIns="0" rIns="0" bIns="0" rtlCol="0" anchor="t"/>
          <a:lstStyle/>
          <a:p>
            <a:pPr indent="0" marL="0">
              <a:buNone/>
            </a:pPr>
            <a:r>
              <a:rPr lang="en-US" sz="1800" b="1" dirty="0">
                <a:solidFill>
                  <a:schemeClr val="tx1"/>
                </a:solidFill>
              </a:rPr>
              <a:t>Shared runway</a:t>
            </a:r>
            <a:endParaRPr lang="en-US" sz="1800" dirty="0"/>
          </a:p>
        </p:txBody>
      </p:sp>
      <p:sp>
        <p:nvSpPr>
          <p:cNvPr id="6" name="text-17"/>
          <p:cNvSpPr txBox="1"/>
          <p:nvPr/>
        </p:nvSpPr>
        <p:spPr>
          <a:xfrm>
            <a:off x="1280160" y="1719072"/>
            <a:ext cx="3931920" cy="548640"/>
          </a:xfrm>
          <a:prstGeom prst="rect">
            <a:avLst/>
          </a:prstGeom>
          <a:noFill/>
          <a:ln/>
        </p:spPr>
        <p:txBody>
          <a:bodyPr wrap="square" lIns="0" tIns="0" rIns="0" bIns="0" rtlCol="0" anchor="t"/>
          <a:lstStyle/>
          <a:p>
            <a:pPr indent="0" marL="0">
              <a:buNone/>
            </a:pPr>
            <a:r>
              <a:rPr lang="en-US" sz="1400" dirty="0">
                <a:solidFill>
                  <a:schemeClr val="tx2"/>
                </a:solidFill>
              </a:rPr>
              <a:t>One runway, many flights waiting to land or take off.</a:t>
            </a:r>
            <a:endParaRPr lang="en-US" sz="1400" dirty="0"/>
          </a:p>
        </p:txBody>
      </p:sp>
      <p:sp>
        <p:nvSpPr>
          <p:cNvPr id="7" name="icon-bg-18"/>
          <p:cNvSpPr/>
          <p:nvPr/>
        </p:nvSpPr>
        <p:spPr>
          <a:xfrm>
            <a:off x="457200" y="2423160"/>
            <a:ext cx="640080" cy="640080"/>
          </a:xfrm>
          <a:prstGeom prst="ellipse">
            <a:avLst/>
          </a:prstGeom>
          <a:solidFill>
            <a:schemeClr val="accent2"/>
          </a:solidFill>
          <a:ln w="12700">
            <a:solidFill>
              <a:schemeClr val="accent2"/>
            </a:solidFill>
            <a:prstDash val="solid"/>
          </a:ln>
        </p:spPr>
      </p:sp>
      <p:pic>
        <p:nvPicPr>
          <p:cNvPr id="8" name="icon-19" descr="icon">    </p:cNvPr>
          <p:cNvPicPr>
            <a:picLocks noChangeAspect="1"/>
          </p:cNvPicPr>
          <p:nvPr/>
        </p:nvPicPr>
        <p:blipFill>
          <a:blip r:embed="rId2"/>
          <a:stretch>
            <a:fillRect/>
          </a:stretch>
        </p:blipFill>
        <p:spPr>
          <a:xfrm>
            <a:off x="617220" y="2583180"/>
            <a:ext cx="320040" cy="320040"/>
          </a:xfrm>
          <a:prstGeom prst="rect">
            <a:avLst/>
          </a:prstGeom>
        </p:spPr>
      </p:pic>
      <p:sp>
        <p:nvSpPr>
          <p:cNvPr id="9" name="text-20"/>
          <p:cNvSpPr txBox="1"/>
          <p:nvPr/>
        </p:nvSpPr>
        <p:spPr>
          <a:xfrm>
            <a:off x="1280160" y="2423160"/>
            <a:ext cx="3931920" cy="320040"/>
          </a:xfrm>
          <a:prstGeom prst="rect">
            <a:avLst/>
          </a:prstGeom>
          <a:noFill/>
          <a:ln/>
        </p:spPr>
        <p:txBody>
          <a:bodyPr wrap="square" lIns="0" tIns="0" rIns="0" bIns="0" rtlCol="0" anchor="t"/>
          <a:lstStyle/>
          <a:p>
            <a:pPr indent="0" marL="0">
              <a:buNone/>
            </a:pPr>
            <a:r>
              <a:rPr lang="en-US" sz="1800" b="1" dirty="0">
                <a:solidFill>
                  <a:schemeClr val="tx1"/>
                </a:solidFill>
              </a:rPr>
              <a:t>Fair ordering</a:t>
            </a:r>
            <a:endParaRPr lang="en-US" sz="1800" dirty="0"/>
          </a:p>
        </p:txBody>
      </p:sp>
      <p:sp>
        <p:nvSpPr>
          <p:cNvPr id="10" name="text-21"/>
          <p:cNvSpPr txBox="1"/>
          <p:nvPr/>
        </p:nvSpPr>
        <p:spPr>
          <a:xfrm>
            <a:off x="1280160" y="2770632"/>
            <a:ext cx="3931920" cy="548640"/>
          </a:xfrm>
          <a:prstGeom prst="rect">
            <a:avLst/>
          </a:prstGeom>
          <a:noFill/>
          <a:ln/>
        </p:spPr>
        <p:txBody>
          <a:bodyPr wrap="square" lIns="0" tIns="0" rIns="0" bIns="0" rtlCol="0" anchor="t"/>
          <a:lstStyle/>
          <a:p>
            <a:pPr indent="0" marL="0">
              <a:buNone/>
            </a:pPr>
            <a:r>
              <a:rPr lang="en-US" sz="1400" dirty="0">
                <a:solidFill>
                  <a:schemeClr val="tx2"/>
                </a:solidFill>
              </a:rPr>
              <a:t>Normal flights are served first come, first served.</a:t>
            </a:r>
            <a:endParaRPr lang="en-US" sz="1400" dirty="0"/>
          </a:p>
        </p:txBody>
      </p:sp>
      <p:sp>
        <p:nvSpPr>
          <p:cNvPr id="11" name="icon-bg-22"/>
          <p:cNvSpPr/>
          <p:nvPr/>
        </p:nvSpPr>
        <p:spPr>
          <a:xfrm>
            <a:off x="457200" y="3474720"/>
            <a:ext cx="640080" cy="640080"/>
          </a:xfrm>
          <a:prstGeom prst="ellipse">
            <a:avLst/>
          </a:prstGeom>
          <a:solidFill>
            <a:schemeClr val="accent2"/>
          </a:solidFill>
          <a:ln w="12700">
            <a:solidFill>
              <a:schemeClr val="accent2"/>
            </a:solidFill>
            <a:prstDash val="solid"/>
          </a:ln>
        </p:spPr>
      </p:sp>
      <p:pic>
        <p:nvPicPr>
          <p:cNvPr id="12" name="icon-23" descr="icon">    </p:cNvPr>
          <p:cNvPicPr>
            <a:picLocks noChangeAspect="1"/>
          </p:cNvPicPr>
          <p:nvPr/>
        </p:nvPicPr>
        <p:blipFill>
          <a:blip r:embed="rId3"/>
          <a:stretch>
            <a:fillRect/>
          </a:stretch>
        </p:blipFill>
        <p:spPr>
          <a:xfrm>
            <a:off x="617220" y="3634740"/>
            <a:ext cx="320040" cy="320040"/>
          </a:xfrm>
          <a:prstGeom prst="rect">
            <a:avLst/>
          </a:prstGeom>
        </p:spPr>
      </p:pic>
      <p:sp>
        <p:nvSpPr>
          <p:cNvPr id="13" name="text-24"/>
          <p:cNvSpPr txBox="1"/>
          <p:nvPr/>
        </p:nvSpPr>
        <p:spPr>
          <a:xfrm>
            <a:off x="1280160" y="3474720"/>
            <a:ext cx="3931920" cy="320040"/>
          </a:xfrm>
          <a:prstGeom prst="rect">
            <a:avLst/>
          </a:prstGeom>
          <a:noFill/>
          <a:ln/>
        </p:spPr>
        <p:txBody>
          <a:bodyPr wrap="square" lIns="0" tIns="0" rIns="0" bIns="0" rtlCol="0" anchor="t"/>
          <a:lstStyle/>
          <a:p>
            <a:pPr indent="0" marL="0">
              <a:buNone/>
            </a:pPr>
            <a:r>
              <a:rPr lang="en-US" sz="1800" b="1" dirty="0">
                <a:solidFill>
                  <a:schemeClr val="tx1"/>
                </a:solidFill>
              </a:rPr>
              <a:t>Emergency priority</a:t>
            </a:r>
            <a:endParaRPr lang="en-US" sz="1800" dirty="0"/>
          </a:p>
        </p:txBody>
      </p:sp>
      <p:sp>
        <p:nvSpPr>
          <p:cNvPr id="14" name="text-25"/>
          <p:cNvSpPr txBox="1"/>
          <p:nvPr/>
        </p:nvSpPr>
        <p:spPr>
          <a:xfrm>
            <a:off x="1280160" y="3822192"/>
            <a:ext cx="3931920" cy="548640"/>
          </a:xfrm>
          <a:prstGeom prst="rect">
            <a:avLst/>
          </a:prstGeom>
          <a:noFill/>
          <a:ln/>
        </p:spPr>
        <p:txBody>
          <a:bodyPr wrap="square" lIns="0" tIns="0" rIns="0" bIns="0" rtlCol="0" anchor="t"/>
          <a:lstStyle/>
          <a:p>
            <a:pPr indent="0" marL="0">
              <a:buNone/>
            </a:pPr>
            <a:r>
              <a:rPr lang="en-US" sz="1400" dirty="0">
                <a:solidFill>
                  <a:schemeClr val="tx2"/>
                </a:solidFill>
              </a:rPr>
              <a:t>Emergency flights must be served ahead of everyone waiting.</a:t>
            </a:r>
            <a:endParaRPr lang="en-US" sz="1400" dirty="0"/>
          </a:p>
        </p:txBody>
      </p:sp>
      <p:sp>
        <p:nvSpPr>
          <p:cNvPr id="15" name="card-26"/>
          <p:cNvSpPr/>
          <p:nvPr/>
        </p:nvSpPr>
        <p:spPr>
          <a:xfrm>
            <a:off x="5577840" y="1371600"/>
            <a:ext cx="3108960" cy="3063240"/>
          </a:xfrm>
          <a:prstGeom prst="roundRect">
            <a:avLst>
              <a:gd name="adj" fmla="val 2985"/>
            </a:avLst>
          </a:prstGeom>
          <a:solidFill>
            <a:schemeClr val="tx1"/>
          </a:solidFill>
          <a:ln w="12700">
            <a:solidFill>
              <a:schemeClr val="tx1"/>
            </a:solidFill>
            <a:prstDash val="solid"/>
          </a:ln>
        </p:spPr>
      </p:sp>
      <p:sp>
        <p:nvSpPr>
          <p:cNvPr id="16" name="text-27"/>
          <p:cNvSpPr txBox="1"/>
          <p:nvPr/>
        </p:nvSpPr>
        <p:spPr>
          <a:xfrm>
            <a:off x="5852160" y="1645920"/>
            <a:ext cx="2560320" cy="274320"/>
          </a:xfrm>
          <a:prstGeom prst="rect">
            <a:avLst/>
          </a:prstGeom>
          <a:noFill/>
          <a:ln/>
        </p:spPr>
        <p:txBody>
          <a:bodyPr wrap="square" lIns="0" tIns="0" rIns="0" bIns="0" rtlCol="0" anchor="t"/>
          <a:lstStyle/>
          <a:p>
            <a:pPr indent="0" marL="0">
              <a:buNone/>
            </a:pPr>
            <a:r>
              <a:rPr lang="en-US" sz="1400" b="1" dirty="0">
                <a:solidFill>
                  <a:schemeClr val="accent1"/>
                </a:solidFill>
              </a:rPr>
              <a:t>OUR GOAL</a:t>
            </a:r>
            <a:endParaRPr lang="en-US" sz="1400" dirty="0"/>
          </a:p>
        </p:txBody>
      </p:sp>
      <p:sp>
        <p:nvSpPr>
          <p:cNvPr id="17" name="text-28"/>
          <p:cNvSpPr txBox="1"/>
          <p:nvPr/>
        </p:nvSpPr>
        <p:spPr>
          <a:xfrm>
            <a:off x="5852160" y="2057400"/>
            <a:ext cx="2560320" cy="2103120"/>
          </a:xfrm>
          <a:prstGeom prst="rect">
            <a:avLst/>
          </a:prstGeom>
          <a:noFill/>
          <a:ln/>
        </p:spPr>
        <p:txBody>
          <a:bodyPr wrap="square" lIns="0" tIns="0" rIns="0" bIns="0" rtlCol="0" anchor="t"/>
          <a:lstStyle/>
          <a:p>
            <a:pPr indent="0" marL="0">
              <a:buNone/>
            </a:pPr>
            <a:r>
              <a:rPr lang="en-US" sz="2000" dirty="0">
                <a:solidFill>
                  <a:schemeClr val="bg1"/>
                </a:solidFill>
              </a:rPr>
              <a:t>Sequence flights fairly, let emergencies jump the line, and keep a permanent record of every runway event.</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System architecture</a:t>
            </a:r>
            <a:endParaRPr lang="en-US" sz="3400" dirty="0"/>
          </a:p>
        </p:txBody>
      </p:sp>
      <p:sp>
        <p:nvSpPr>
          <p:cNvPr id="3" name="card-29"/>
          <p:cNvSpPr/>
          <p:nvPr/>
        </p:nvSpPr>
        <p:spPr>
          <a:xfrm>
            <a:off x="457200" y="1371600"/>
            <a:ext cx="2560320" cy="3108960"/>
          </a:xfrm>
          <a:prstGeom prst="roundRect">
            <a:avLst>
              <a:gd name="adj" fmla="val 3571"/>
            </a:avLst>
          </a:prstGeom>
          <a:solidFill>
            <a:schemeClr val="bg2"/>
          </a:solidFill>
          <a:ln w="12700">
            <a:solidFill>
              <a:schemeClr val="bg2"/>
            </a:solidFill>
            <a:prstDash val="solid"/>
          </a:ln>
        </p:spPr>
      </p:sp>
      <p:sp>
        <p:nvSpPr>
          <p:cNvPr id="4" name="icon-bg-30"/>
          <p:cNvSpPr/>
          <p:nvPr/>
        </p:nvSpPr>
        <p:spPr>
          <a:xfrm>
            <a:off x="685800" y="1600200"/>
            <a:ext cx="594360" cy="594360"/>
          </a:xfrm>
          <a:prstGeom prst="ellipse">
            <a:avLst/>
          </a:prstGeom>
          <a:solidFill>
            <a:schemeClr val="accent2"/>
          </a:solidFill>
          <a:ln w="12700">
            <a:solidFill>
              <a:schemeClr val="accent2"/>
            </a:solidFill>
            <a:prstDash val="solid"/>
          </a:ln>
        </p:spPr>
      </p:sp>
      <p:pic>
        <p:nvPicPr>
          <p:cNvPr id="5" name="icon-31" descr="icon">    </p:cNvPr>
          <p:cNvPicPr>
            <a:picLocks noChangeAspect="1"/>
          </p:cNvPicPr>
          <p:nvPr/>
        </p:nvPicPr>
        <p:blipFill>
          <a:blip r:embed="rId1"/>
          <a:stretch>
            <a:fillRect/>
          </a:stretch>
        </p:blipFill>
        <p:spPr>
          <a:xfrm>
            <a:off x="834390" y="1748790"/>
            <a:ext cx="297180" cy="297180"/>
          </a:xfrm>
          <a:prstGeom prst="rect">
            <a:avLst/>
          </a:prstGeom>
        </p:spPr>
      </p:pic>
      <p:sp>
        <p:nvSpPr>
          <p:cNvPr id="6" name="text-32"/>
          <p:cNvSpPr txBox="1"/>
          <p:nvPr/>
        </p:nvSpPr>
        <p:spPr>
          <a:xfrm>
            <a:off x="1417320" y="1600200"/>
            <a:ext cx="1463040" cy="594360"/>
          </a:xfrm>
          <a:prstGeom prst="rect">
            <a:avLst/>
          </a:prstGeom>
          <a:noFill/>
          <a:ln/>
        </p:spPr>
        <p:txBody>
          <a:bodyPr wrap="square" lIns="0" tIns="0" rIns="0" bIns="0" rtlCol="0" anchor="ctr"/>
          <a:lstStyle/>
          <a:p>
            <a:pPr indent="0" marL="0">
              <a:buNone/>
            </a:pPr>
            <a:r>
              <a:rPr lang="en-US" sz="1800" b="1" dirty="0">
                <a:solidFill>
                  <a:schemeClr val="tx1"/>
                </a:solidFill>
              </a:rPr>
              <a:t>Interface</a:t>
            </a:r>
            <a:endParaRPr lang="en-US" sz="1800" dirty="0"/>
          </a:p>
        </p:txBody>
      </p:sp>
      <p:sp>
        <p:nvSpPr>
          <p:cNvPr id="7" name="text-33"/>
          <p:cNvSpPr txBox="1"/>
          <p:nvPr/>
        </p:nvSpPr>
        <p:spPr>
          <a:xfrm>
            <a:off x="685800" y="2468880"/>
            <a:ext cx="2148840" cy="1920240"/>
          </a:xfrm>
          <a:prstGeom prst="rect">
            <a:avLst/>
          </a:prstGeom>
          <a:noFill/>
          <a:ln/>
        </p:spPr>
        <p:txBody>
          <a:bodyPr wrap="square" lIns="0" tIns="0" rIns="0" bIns="0" rtlCol="0" anchor="t"/>
          <a:lstStyle/>
          <a:p>
            <a:pPr indent="0" marL="0">
              <a:buNone/>
            </a:pPr>
            <a:r>
              <a:rPr lang="en-US" sz="1400" b="1" dirty="0">
                <a:solidFill>
                  <a:schemeClr val="tx1"/>
                </a:solidFill>
              </a:rPr>
              <a:t>RunwayUI.java</a:t>
            </a:r>
            <a:endParaRPr lang="en-US" sz="1400" dirty="0"/>
          </a:p>
          <a:p>
            <a:pPr indent="0" marL="0">
              <a:spcAft>
                <a:spcPts val="800"/>
              </a:spcAft>
              <a:buNone/>
            </a:pPr>
            <a:r>
              <a:rPr lang="en-US" sz="1400" dirty="0">
                <a:solidFill>
                  <a:schemeClr val="tx2"/>
                </a:solidFill>
              </a:rPr>
              <a:t>Swing form, queue panel and activity log</a:t>
            </a:r>
            <a:endParaRPr lang="en-US" sz="1400" dirty="0"/>
          </a:p>
        </p:txBody>
      </p:sp>
      <p:sp>
        <p:nvSpPr>
          <p:cNvPr id="8" name="arrow-34"/>
          <p:cNvSpPr/>
          <p:nvPr/>
        </p:nvSpPr>
        <p:spPr>
          <a:xfrm>
            <a:off x="3017520" y="2788920"/>
            <a:ext cx="274320" cy="274320"/>
          </a:xfrm>
          <a:prstGeom prst="rightArrow">
            <a:avLst/>
          </a:prstGeom>
          <a:solidFill>
            <a:schemeClr val="accent1"/>
          </a:solidFill>
          <a:ln w="12700">
            <a:solidFill>
              <a:schemeClr val="accent1"/>
            </a:solidFill>
            <a:prstDash val="solid"/>
          </a:ln>
        </p:spPr>
      </p:sp>
      <p:sp>
        <p:nvSpPr>
          <p:cNvPr id="9" name="card-35"/>
          <p:cNvSpPr/>
          <p:nvPr/>
        </p:nvSpPr>
        <p:spPr>
          <a:xfrm>
            <a:off x="3291840" y="1371600"/>
            <a:ext cx="2560320" cy="3108960"/>
          </a:xfrm>
          <a:prstGeom prst="roundRect">
            <a:avLst>
              <a:gd name="adj" fmla="val 3571"/>
            </a:avLst>
          </a:prstGeom>
          <a:solidFill>
            <a:schemeClr val="bg2"/>
          </a:solidFill>
          <a:ln w="12700">
            <a:solidFill>
              <a:schemeClr val="bg2"/>
            </a:solidFill>
            <a:prstDash val="solid"/>
          </a:ln>
        </p:spPr>
      </p:sp>
      <p:sp>
        <p:nvSpPr>
          <p:cNvPr id="10" name="icon-bg-36"/>
          <p:cNvSpPr/>
          <p:nvPr/>
        </p:nvSpPr>
        <p:spPr>
          <a:xfrm>
            <a:off x="3520440" y="1600200"/>
            <a:ext cx="594360" cy="594360"/>
          </a:xfrm>
          <a:prstGeom prst="ellipse">
            <a:avLst/>
          </a:prstGeom>
          <a:solidFill>
            <a:schemeClr val="accent1"/>
          </a:solidFill>
          <a:ln w="12700">
            <a:solidFill>
              <a:schemeClr val="accent1"/>
            </a:solidFill>
            <a:prstDash val="solid"/>
          </a:ln>
        </p:spPr>
      </p:sp>
      <p:pic>
        <p:nvPicPr>
          <p:cNvPr id="11" name="icon-37" descr="icon">    </p:cNvPr>
          <p:cNvPicPr>
            <a:picLocks noChangeAspect="1"/>
          </p:cNvPicPr>
          <p:nvPr/>
        </p:nvPicPr>
        <p:blipFill>
          <a:blip r:embed="rId2"/>
          <a:stretch>
            <a:fillRect/>
          </a:stretch>
        </p:blipFill>
        <p:spPr>
          <a:xfrm>
            <a:off x="3669030" y="1748790"/>
            <a:ext cx="297180" cy="297180"/>
          </a:xfrm>
          <a:prstGeom prst="rect">
            <a:avLst/>
          </a:prstGeom>
        </p:spPr>
      </p:pic>
      <p:sp>
        <p:nvSpPr>
          <p:cNvPr id="12" name="text-38"/>
          <p:cNvSpPr txBox="1"/>
          <p:nvPr/>
        </p:nvSpPr>
        <p:spPr>
          <a:xfrm>
            <a:off x="4251960" y="1600200"/>
            <a:ext cx="1463040" cy="594360"/>
          </a:xfrm>
          <a:prstGeom prst="rect">
            <a:avLst/>
          </a:prstGeom>
          <a:noFill/>
          <a:ln/>
        </p:spPr>
        <p:txBody>
          <a:bodyPr wrap="square" lIns="0" tIns="0" rIns="0" bIns="0" rtlCol="0" anchor="ctr"/>
          <a:lstStyle/>
          <a:p>
            <a:pPr indent="0" marL="0">
              <a:buNone/>
            </a:pPr>
            <a:r>
              <a:rPr lang="en-US" sz="1800" b="1" dirty="0">
                <a:solidFill>
                  <a:schemeClr val="tx1"/>
                </a:solidFill>
              </a:rPr>
              <a:t>Core logic</a:t>
            </a:r>
            <a:endParaRPr lang="en-US" sz="1800" dirty="0"/>
          </a:p>
        </p:txBody>
      </p:sp>
      <p:sp>
        <p:nvSpPr>
          <p:cNvPr id="13" name="text-39"/>
          <p:cNvSpPr txBox="1"/>
          <p:nvPr/>
        </p:nvSpPr>
        <p:spPr>
          <a:xfrm>
            <a:off x="3520440" y="2468880"/>
            <a:ext cx="2148840" cy="1920240"/>
          </a:xfrm>
          <a:prstGeom prst="rect">
            <a:avLst/>
          </a:prstGeom>
          <a:noFill/>
          <a:ln/>
        </p:spPr>
        <p:txBody>
          <a:bodyPr wrap="square" lIns="0" tIns="0" rIns="0" bIns="0" rtlCol="0" anchor="t"/>
          <a:lstStyle/>
          <a:p>
            <a:pPr indent="0" marL="0">
              <a:buNone/>
            </a:pPr>
            <a:r>
              <a:rPr lang="en-US" sz="1400" b="1" dirty="0">
                <a:solidFill>
                  <a:schemeClr val="tx1"/>
                </a:solidFill>
              </a:rPr>
              <a:t>Aircraft.java</a:t>
            </a:r>
            <a:endParaRPr lang="en-US" sz="1400" dirty="0"/>
          </a:p>
          <a:p>
            <a:pPr indent="0" marL="0">
              <a:spcAft>
                <a:spcPts val="800"/>
              </a:spcAft>
              <a:buNone/>
            </a:pPr>
            <a:r>
              <a:rPr lang="en-US" sz="1400" dirty="0">
                <a:solidFill>
                  <a:schemeClr val="tx2"/>
                </a:solidFill>
              </a:rPr>
              <a:t>Flight data model</a:t>
            </a:r>
            <a:endParaRPr lang="en-US" sz="1400" dirty="0"/>
          </a:p>
          <a:p>
            <a:pPr indent="0" marL="0">
              <a:buNone/>
            </a:pPr>
            <a:r>
              <a:rPr lang="en-US" sz="1400" b="1" dirty="0">
                <a:solidFill>
                  <a:schemeClr val="tx1"/>
                </a:solidFill>
              </a:rPr>
              <a:t>Node.java</a:t>
            </a:r>
            <a:endParaRPr lang="en-US" sz="1400" dirty="0"/>
          </a:p>
          <a:p>
            <a:pPr indent="0" marL="0">
              <a:spcAft>
                <a:spcPts val="800"/>
              </a:spcAft>
              <a:buNone/>
            </a:pPr>
            <a:r>
              <a:rPr lang="en-US" sz="1400" dirty="0">
                <a:solidFill>
                  <a:schemeClr val="tx2"/>
                </a:solidFill>
              </a:rPr>
              <a:t>Linked-list node</a:t>
            </a:r>
            <a:endParaRPr lang="en-US" sz="1400" dirty="0"/>
          </a:p>
          <a:p>
            <a:pPr indent="0" marL="0">
              <a:buNone/>
            </a:pPr>
            <a:r>
              <a:rPr lang="en-US" sz="1400" b="1" dirty="0">
                <a:solidFill>
                  <a:schemeClr val="tx1"/>
                </a:solidFill>
              </a:rPr>
              <a:t>FlightQueue.java</a:t>
            </a:r>
            <a:endParaRPr lang="en-US" sz="1400" dirty="0"/>
          </a:p>
          <a:p>
            <a:pPr indent="0" marL="0">
              <a:spcAft>
                <a:spcPts val="800"/>
              </a:spcAft>
              <a:buNone/>
            </a:pPr>
            <a:r>
              <a:rPr lang="en-US" sz="1400" dirty="0">
                <a:solidFill>
                  <a:schemeClr val="tx2"/>
                </a:solidFill>
              </a:rPr>
              <a:t>Head/tail priority queue</a:t>
            </a:r>
            <a:endParaRPr lang="en-US" sz="1400" dirty="0"/>
          </a:p>
        </p:txBody>
      </p:sp>
      <p:sp>
        <p:nvSpPr>
          <p:cNvPr id="14" name="arrow-40"/>
          <p:cNvSpPr/>
          <p:nvPr/>
        </p:nvSpPr>
        <p:spPr>
          <a:xfrm>
            <a:off x="5852160" y="2788920"/>
            <a:ext cx="274320" cy="274320"/>
          </a:xfrm>
          <a:prstGeom prst="rightArrow">
            <a:avLst/>
          </a:prstGeom>
          <a:solidFill>
            <a:schemeClr val="accent1"/>
          </a:solidFill>
          <a:ln w="12700">
            <a:solidFill>
              <a:schemeClr val="accent1"/>
            </a:solidFill>
            <a:prstDash val="solid"/>
          </a:ln>
        </p:spPr>
      </p:sp>
      <p:sp>
        <p:nvSpPr>
          <p:cNvPr id="15" name="card-41"/>
          <p:cNvSpPr/>
          <p:nvPr/>
        </p:nvSpPr>
        <p:spPr>
          <a:xfrm>
            <a:off x="6126480" y="1371600"/>
            <a:ext cx="2560320" cy="3108960"/>
          </a:xfrm>
          <a:prstGeom prst="roundRect">
            <a:avLst>
              <a:gd name="adj" fmla="val 3571"/>
            </a:avLst>
          </a:prstGeom>
          <a:solidFill>
            <a:schemeClr val="bg2"/>
          </a:solidFill>
          <a:ln w="12700">
            <a:solidFill>
              <a:schemeClr val="bg2"/>
            </a:solidFill>
            <a:prstDash val="solid"/>
          </a:ln>
        </p:spPr>
      </p:sp>
      <p:sp>
        <p:nvSpPr>
          <p:cNvPr id="16" name="icon-bg-42"/>
          <p:cNvSpPr/>
          <p:nvPr/>
        </p:nvSpPr>
        <p:spPr>
          <a:xfrm>
            <a:off x="6355080" y="1600200"/>
            <a:ext cx="594360" cy="594360"/>
          </a:xfrm>
          <a:prstGeom prst="ellipse">
            <a:avLst/>
          </a:prstGeom>
          <a:solidFill>
            <a:schemeClr val="accent3"/>
          </a:solidFill>
          <a:ln w="12700">
            <a:solidFill>
              <a:schemeClr val="accent3"/>
            </a:solidFill>
            <a:prstDash val="solid"/>
          </a:ln>
        </p:spPr>
      </p:sp>
      <p:pic>
        <p:nvPicPr>
          <p:cNvPr id="17" name="icon-43" descr="icon">    </p:cNvPr>
          <p:cNvPicPr>
            <a:picLocks noChangeAspect="1"/>
          </p:cNvPicPr>
          <p:nvPr/>
        </p:nvPicPr>
        <p:blipFill>
          <a:blip r:embed="rId3"/>
          <a:stretch>
            <a:fillRect/>
          </a:stretch>
        </p:blipFill>
        <p:spPr>
          <a:xfrm>
            <a:off x="6503670" y="1748790"/>
            <a:ext cx="297180" cy="297180"/>
          </a:xfrm>
          <a:prstGeom prst="rect">
            <a:avLst/>
          </a:prstGeom>
        </p:spPr>
      </p:pic>
      <p:sp>
        <p:nvSpPr>
          <p:cNvPr id="18" name="text-44"/>
          <p:cNvSpPr txBox="1"/>
          <p:nvPr/>
        </p:nvSpPr>
        <p:spPr>
          <a:xfrm>
            <a:off x="7086600" y="1600200"/>
            <a:ext cx="1463040" cy="594360"/>
          </a:xfrm>
          <a:prstGeom prst="rect">
            <a:avLst/>
          </a:prstGeom>
          <a:noFill/>
          <a:ln/>
        </p:spPr>
        <p:txBody>
          <a:bodyPr wrap="square" lIns="0" tIns="0" rIns="0" bIns="0" rtlCol="0" anchor="ctr"/>
          <a:lstStyle/>
          <a:p>
            <a:pPr indent="0" marL="0">
              <a:buNone/>
            </a:pPr>
            <a:r>
              <a:rPr lang="en-US" sz="1800" b="1" dirty="0">
                <a:solidFill>
                  <a:schemeClr val="tx1"/>
                </a:solidFill>
              </a:rPr>
              <a:t>Storage and tests</a:t>
            </a:r>
            <a:endParaRPr lang="en-US" sz="1800" dirty="0"/>
          </a:p>
        </p:txBody>
      </p:sp>
      <p:sp>
        <p:nvSpPr>
          <p:cNvPr id="19" name="text-45"/>
          <p:cNvSpPr txBox="1"/>
          <p:nvPr/>
        </p:nvSpPr>
        <p:spPr>
          <a:xfrm>
            <a:off x="6355080" y="2468880"/>
            <a:ext cx="2148840" cy="1920240"/>
          </a:xfrm>
          <a:prstGeom prst="rect">
            <a:avLst/>
          </a:prstGeom>
          <a:noFill/>
          <a:ln/>
        </p:spPr>
        <p:txBody>
          <a:bodyPr wrap="square" lIns="0" tIns="0" rIns="0" bIns="0" rtlCol="0" anchor="t"/>
          <a:lstStyle/>
          <a:p>
            <a:pPr indent="0" marL="0">
              <a:buNone/>
            </a:pPr>
            <a:r>
              <a:rPr lang="en-US" sz="1400" b="1" dirty="0">
                <a:solidFill>
                  <a:schemeClr val="tx1"/>
                </a:solidFill>
              </a:rPr>
              <a:t>FileHandler.java</a:t>
            </a:r>
            <a:endParaRPr lang="en-US" sz="1400" dirty="0"/>
          </a:p>
          <a:p>
            <a:pPr indent="0" marL="0">
              <a:spcAft>
                <a:spcPts val="800"/>
              </a:spcAft>
              <a:buNone/>
            </a:pPr>
            <a:r>
              <a:rPr lang="en-US" sz="1400" dirty="0">
                <a:solidFill>
                  <a:schemeClr val="tx2"/>
                </a:solidFill>
              </a:rPr>
              <a:t>Append-mode log to runway_log.txt</a:t>
            </a:r>
            <a:endParaRPr lang="en-US" sz="1400" dirty="0"/>
          </a:p>
          <a:p>
            <a:pPr indent="0" marL="0">
              <a:buNone/>
            </a:pPr>
            <a:r>
              <a:rPr lang="en-US" sz="1400" b="1" dirty="0">
                <a:solidFill>
                  <a:schemeClr val="tx1"/>
                </a:solidFill>
              </a:rPr>
              <a:t>TestRunway.java</a:t>
            </a:r>
            <a:endParaRPr lang="en-US" sz="1400" dirty="0"/>
          </a:p>
          <a:p>
            <a:pPr indent="0" marL="0">
              <a:spcAft>
                <a:spcPts val="800"/>
              </a:spcAft>
              <a:buNone/>
            </a:pPr>
            <a:r>
              <a:rPr lang="en-US" sz="1400" dirty="0">
                <a:solidFill>
                  <a:schemeClr val="tx2"/>
                </a:solidFill>
              </a:rPr>
              <a:t>Headless automated tests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Team and modules</a:t>
            </a:r>
            <a:endParaRPr lang="en-US" sz="3400" dirty="0"/>
          </a:p>
        </p:txBody>
      </p:sp>
      <p:sp>
        <p:nvSpPr>
          <p:cNvPr id="3" name="card-46"/>
          <p:cNvSpPr/>
          <p:nvPr/>
        </p:nvSpPr>
        <p:spPr>
          <a:xfrm>
            <a:off x="457200" y="1371600"/>
            <a:ext cx="1920240" cy="3108960"/>
          </a:xfrm>
          <a:prstGeom prst="roundRect">
            <a:avLst>
              <a:gd name="adj" fmla="val 4762"/>
            </a:avLst>
          </a:prstGeom>
          <a:solidFill>
            <a:schemeClr val="bg2"/>
          </a:solidFill>
          <a:ln w="12700">
            <a:solidFill>
              <a:schemeClr val="bg2"/>
            </a:solidFill>
            <a:prstDash val="solid"/>
          </a:ln>
        </p:spPr>
      </p:sp>
      <p:sp>
        <p:nvSpPr>
          <p:cNvPr id="4" name="icon-bg-47"/>
          <p:cNvSpPr/>
          <p:nvPr/>
        </p:nvSpPr>
        <p:spPr>
          <a:xfrm>
            <a:off x="685800" y="1554480"/>
            <a:ext cx="594360" cy="594360"/>
          </a:xfrm>
          <a:prstGeom prst="ellipse">
            <a:avLst/>
          </a:prstGeom>
          <a:solidFill>
            <a:schemeClr val="accent2"/>
          </a:solidFill>
          <a:ln w="12700">
            <a:solidFill>
              <a:schemeClr val="accent2"/>
            </a:solidFill>
            <a:prstDash val="solid"/>
          </a:ln>
        </p:spPr>
      </p:sp>
      <p:pic>
        <p:nvPicPr>
          <p:cNvPr id="5" name="icon-48" descr="icon">    </p:cNvPr>
          <p:cNvPicPr>
            <a:picLocks noChangeAspect="1"/>
          </p:cNvPicPr>
          <p:nvPr/>
        </p:nvPicPr>
        <p:blipFill>
          <a:blip r:embed="rId1"/>
          <a:stretch>
            <a:fillRect/>
          </a:stretch>
        </p:blipFill>
        <p:spPr>
          <a:xfrm>
            <a:off x="834390" y="1703070"/>
            <a:ext cx="297180" cy="297180"/>
          </a:xfrm>
          <a:prstGeom prst="rect">
            <a:avLst/>
          </a:prstGeom>
        </p:spPr>
      </p:pic>
      <p:sp>
        <p:nvSpPr>
          <p:cNvPr id="6" name="text-49"/>
          <p:cNvSpPr txBox="1"/>
          <p:nvPr/>
        </p:nvSpPr>
        <p:spPr>
          <a:xfrm>
            <a:off x="685800" y="2286000"/>
            <a:ext cx="1554480" cy="365760"/>
          </a:xfrm>
          <a:prstGeom prst="rect">
            <a:avLst/>
          </a:prstGeom>
          <a:noFill/>
          <a:ln/>
        </p:spPr>
        <p:txBody>
          <a:bodyPr wrap="square" lIns="0" tIns="0" rIns="0" bIns="0" rtlCol="0" anchor="t"/>
          <a:lstStyle/>
          <a:p>
            <a:pPr indent="0" marL="0">
              <a:buNone/>
            </a:pPr>
            <a:r>
              <a:rPr lang="en-US" sz="2000" b="1" dirty="0">
                <a:solidFill>
                  <a:schemeClr val="tx1"/>
                </a:solidFill>
              </a:rPr>
              <a:t>Justin</a:t>
            </a:r>
            <a:endParaRPr lang="en-US" sz="2000" dirty="0"/>
          </a:p>
        </p:txBody>
      </p:sp>
      <p:sp>
        <p:nvSpPr>
          <p:cNvPr id="7" name="text-50"/>
          <p:cNvSpPr txBox="1"/>
          <p:nvPr/>
        </p:nvSpPr>
        <p:spPr>
          <a:xfrm>
            <a:off x="685800" y="2697480"/>
            <a:ext cx="1554480" cy="868680"/>
          </a:xfrm>
          <a:prstGeom prst="rect">
            <a:avLst/>
          </a:prstGeom>
          <a:noFill/>
          <a:ln/>
        </p:spPr>
        <p:txBody>
          <a:bodyPr wrap="square" lIns="0" tIns="0" rIns="0" bIns="0" rtlCol="0" anchor="t"/>
          <a:lstStyle/>
          <a:p>
            <a:pPr indent="0" marL="0">
              <a:buNone/>
            </a:pPr>
            <a:r>
              <a:rPr lang="en-US" sz="1400" dirty="0">
                <a:solidFill>
                  <a:schemeClr val="tx2"/>
                </a:solidFill>
              </a:rPr>
              <a:t>Aircraft Management and Java OOP</a:t>
            </a:r>
            <a:endParaRPr lang="en-US" sz="1400" dirty="0"/>
          </a:p>
        </p:txBody>
      </p:sp>
      <p:sp>
        <p:nvSpPr>
          <p:cNvPr id="8" name="text-51"/>
          <p:cNvSpPr txBox="1"/>
          <p:nvPr/>
        </p:nvSpPr>
        <p:spPr>
          <a:xfrm>
            <a:off x="685800" y="3657600"/>
            <a:ext cx="1554480" cy="685800"/>
          </a:xfrm>
          <a:prstGeom prst="rect">
            <a:avLst/>
          </a:prstGeom>
          <a:noFill/>
          <a:ln/>
        </p:spPr>
        <p:txBody>
          <a:bodyPr wrap="square" lIns="0" tIns="0" rIns="0" bIns="0" rtlCol="0" anchor="t"/>
          <a:lstStyle/>
          <a:p>
            <a:pPr indent="0" marL="0">
              <a:buNone/>
            </a:pPr>
            <a:r>
              <a:rPr lang="en-US" sz="1400" b="1" dirty="0">
                <a:solidFill>
                  <a:schemeClr val="tx1"/>
                </a:solidFill>
              </a:rPr>
              <a:t>Aircraft.java</a:t>
            </a:r>
            <a:endParaRPr lang="en-US" sz="1400" dirty="0"/>
          </a:p>
        </p:txBody>
      </p:sp>
      <p:sp>
        <p:nvSpPr>
          <p:cNvPr id="9" name="card-52"/>
          <p:cNvSpPr/>
          <p:nvPr/>
        </p:nvSpPr>
        <p:spPr>
          <a:xfrm>
            <a:off x="2560320" y="1371600"/>
            <a:ext cx="1920240" cy="3108960"/>
          </a:xfrm>
          <a:prstGeom prst="roundRect">
            <a:avLst>
              <a:gd name="adj" fmla="val 4762"/>
            </a:avLst>
          </a:prstGeom>
          <a:solidFill>
            <a:schemeClr val="bg2"/>
          </a:solidFill>
          <a:ln w="12700">
            <a:solidFill>
              <a:schemeClr val="bg2"/>
            </a:solidFill>
            <a:prstDash val="solid"/>
          </a:ln>
        </p:spPr>
      </p:sp>
      <p:sp>
        <p:nvSpPr>
          <p:cNvPr id="10" name="icon-bg-53"/>
          <p:cNvSpPr/>
          <p:nvPr/>
        </p:nvSpPr>
        <p:spPr>
          <a:xfrm>
            <a:off x="2788920" y="1554480"/>
            <a:ext cx="594360" cy="594360"/>
          </a:xfrm>
          <a:prstGeom prst="ellipse">
            <a:avLst/>
          </a:prstGeom>
          <a:solidFill>
            <a:schemeClr val="accent1"/>
          </a:solidFill>
          <a:ln w="12700">
            <a:solidFill>
              <a:schemeClr val="accent1"/>
            </a:solidFill>
            <a:prstDash val="solid"/>
          </a:ln>
        </p:spPr>
      </p:sp>
      <p:pic>
        <p:nvPicPr>
          <p:cNvPr id="11" name="icon-54" descr="icon">    </p:cNvPr>
          <p:cNvPicPr>
            <a:picLocks noChangeAspect="1"/>
          </p:cNvPicPr>
          <p:nvPr/>
        </p:nvPicPr>
        <p:blipFill>
          <a:blip r:embed="rId2"/>
          <a:stretch>
            <a:fillRect/>
          </a:stretch>
        </p:blipFill>
        <p:spPr>
          <a:xfrm>
            <a:off x="2937510" y="1703070"/>
            <a:ext cx="297180" cy="297180"/>
          </a:xfrm>
          <a:prstGeom prst="rect">
            <a:avLst/>
          </a:prstGeom>
        </p:spPr>
      </p:pic>
      <p:sp>
        <p:nvSpPr>
          <p:cNvPr id="12" name="text-55"/>
          <p:cNvSpPr txBox="1"/>
          <p:nvPr/>
        </p:nvSpPr>
        <p:spPr>
          <a:xfrm>
            <a:off x="2788920" y="2286000"/>
            <a:ext cx="1554480" cy="365760"/>
          </a:xfrm>
          <a:prstGeom prst="rect">
            <a:avLst/>
          </a:prstGeom>
          <a:noFill/>
          <a:ln/>
        </p:spPr>
        <p:txBody>
          <a:bodyPr wrap="square" lIns="0" tIns="0" rIns="0" bIns="0" rtlCol="0" anchor="t"/>
          <a:lstStyle/>
          <a:p>
            <a:pPr indent="0" marL="0">
              <a:buNone/>
            </a:pPr>
            <a:r>
              <a:rPr lang="en-US" sz="2000" b="1" dirty="0">
                <a:solidFill>
                  <a:schemeClr val="tx1"/>
                </a:solidFill>
              </a:rPr>
              <a:t>Elna</a:t>
            </a:r>
            <a:endParaRPr lang="en-US" sz="2000" dirty="0"/>
          </a:p>
        </p:txBody>
      </p:sp>
      <p:sp>
        <p:nvSpPr>
          <p:cNvPr id="13" name="text-56"/>
          <p:cNvSpPr txBox="1"/>
          <p:nvPr/>
        </p:nvSpPr>
        <p:spPr>
          <a:xfrm>
            <a:off x="2788920" y="2697480"/>
            <a:ext cx="1554480" cy="868680"/>
          </a:xfrm>
          <a:prstGeom prst="rect">
            <a:avLst/>
          </a:prstGeom>
          <a:noFill/>
          <a:ln/>
        </p:spPr>
        <p:txBody>
          <a:bodyPr wrap="square" lIns="0" tIns="0" rIns="0" bIns="0" rtlCol="0" anchor="t"/>
          <a:lstStyle/>
          <a:p>
            <a:pPr indent="0" marL="0">
              <a:buNone/>
            </a:pPr>
            <a:r>
              <a:rPr lang="en-US" sz="1400" dirty="0">
                <a:solidFill>
                  <a:schemeClr val="tx2"/>
                </a:solidFill>
              </a:rPr>
              <a:t>Data Structures and Core Algorithms</a:t>
            </a:r>
            <a:endParaRPr lang="en-US" sz="1400" dirty="0"/>
          </a:p>
        </p:txBody>
      </p:sp>
      <p:sp>
        <p:nvSpPr>
          <p:cNvPr id="14" name="text-57"/>
          <p:cNvSpPr txBox="1"/>
          <p:nvPr/>
        </p:nvSpPr>
        <p:spPr>
          <a:xfrm>
            <a:off x="2788920" y="3657600"/>
            <a:ext cx="1554480" cy="685800"/>
          </a:xfrm>
          <a:prstGeom prst="rect">
            <a:avLst/>
          </a:prstGeom>
          <a:noFill/>
          <a:ln/>
        </p:spPr>
        <p:txBody>
          <a:bodyPr wrap="square" lIns="0" tIns="0" rIns="0" bIns="0" rtlCol="0" anchor="t"/>
          <a:lstStyle/>
          <a:p>
            <a:pPr indent="0" marL="0">
              <a:buNone/>
            </a:pPr>
            <a:r>
              <a:rPr lang="en-US" sz="1400" b="1" dirty="0">
                <a:solidFill>
                  <a:schemeClr val="tx1"/>
                </a:solidFill>
              </a:rPr>
              <a:t>Node.java</a:t>
            </a:r>
            <a:endParaRPr lang="en-US" sz="1400" dirty="0"/>
          </a:p>
          <a:p>
            <a:pPr indent="0" marL="0">
              <a:buNone/>
            </a:pPr>
            <a:r>
              <a:rPr lang="en-US" sz="1400" b="1" dirty="0">
                <a:solidFill>
                  <a:schemeClr val="tx1"/>
                </a:solidFill>
              </a:rPr>
              <a:t>FlightQueue.java</a:t>
            </a:r>
            <a:endParaRPr lang="en-US" sz="1400" dirty="0"/>
          </a:p>
        </p:txBody>
      </p:sp>
      <p:sp>
        <p:nvSpPr>
          <p:cNvPr id="15" name="card-58"/>
          <p:cNvSpPr/>
          <p:nvPr/>
        </p:nvSpPr>
        <p:spPr>
          <a:xfrm>
            <a:off x="4663440" y="1371600"/>
            <a:ext cx="1920240" cy="3108960"/>
          </a:xfrm>
          <a:prstGeom prst="roundRect">
            <a:avLst>
              <a:gd name="adj" fmla="val 4762"/>
            </a:avLst>
          </a:prstGeom>
          <a:solidFill>
            <a:schemeClr val="bg2"/>
          </a:solidFill>
          <a:ln w="12700">
            <a:solidFill>
              <a:schemeClr val="bg2"/>
            </a:solidFill>
            <a:prstDash val="solid"/>
          </a:ln>
        </p:spPr>
      </p:sp>
      <p:sp>
        <p:nvSpPr>
          <p:cNvPr id="16" name="icon-bg-59"/>
          <p:cNvSpPr/>
          <p:nvPr/>
        </p:nvSpPr>
        <p:spPr>
          <a:xfrm>
            <a:off x="4892040" y="1554480"/>
            <a:ext cx="594360" cy="594360"/>
          </a:xfrm>
          <a:prstGeom prst="ellipse">
            <a:avLst/>
          </a:prstGeom>
          <a:solidFill>
            <a:schemeClr val="accent5"/>
          </a:solidFill>
          <a:ln w="12700">
            <a:solidFill>
              <a:schemeClr val="accent5"/>
            </a:solidFill>
            <a:prstDash val="solid"/>
          </a:ln>
        </p:spPr>
      </p:sp>
      <p:pic>
        <p:nvPicPr>
          <p:cNvPr id="17" name="icon-60" descr="icon">    </p:cNvPr>
          <p:cNvPicPr>
            <a:picLocks noChangeAspect="1"/>
          </p:cNvPicPr>
          <p:nvPr/>
        </p:nvPicPr>
        <p:blipFill>
          <a:blip r:embed="rId3"/>
          <a:stretch>
            <a:fillRect/>
          </a:stretch>
        </p:blipFill>
        <p:spPr>
          <a:xfrm>
            <a:off x="5040630" y="1703070"/>
            <a:ext cx="297180" cy="297180"/>
          </a:xfrm>
          <a:prstGeom prst="rect">
            <a:avLst/>
          </a:prstGeom>
        </p:spPr>
      </p:pic>
      <p:sp>
        <p:nvSpPr>
          <p:cNvPr id="18" name="text-61"/>
          <p:cNvSpPr txBox="1"/>
          <p:nvPr/>
        </p:nvSpPr>
        <p:spPr>
          <a:xfrm>
            <a:off x="4892040" y="2286000"/>
            <a:ext cx="1554480" cy="365760"/>
          </a:xfrm>
          <a:prstGeom prst="rect">
            <a:avLst/>
          </a:prstGeom>
          <a:noFill/>
          <a:ln/>
        </p:spPr>
        <p:txBody>
          <a:bodyPr wrap="square" lIns="0" tIns="0" rIns="0" bIns="0" rtlCol="0" anchor="t"/>
          <a:lstStyle/>
          <a:p>
            <a:pPr indent="0" marL="0">
              <a:buNone/>
            </a:pPr>
            <a:r>
              <a:rPr lang="en-US" sz="2000" b="1" dirty="0">
                <a:solidFill>
                  <a:schemeClr val="tx1"/>
                </a:solidFill>
              </a:rPr>
              <a:t>Sruthika</a:t>
            </a:r>
            <a:endParaRPr lang="en-US" sz="2000" dirty="0"/>
          </a:p>
        </p:txBody>
      </p:sp>
      <p:sp>
        <p:nvSpPr>
          <p:cNvPr id="19" name="text-62"/>
          <p:cNvSpPr txBox="1"/>
          <p:nvPr/>
        </p:nvSpPr>
        <p:spPr>
          <a:xfrm>
            <a:off x="4892040" y="2697480"/>
            <a:ext cx="1554480" cy="868680"/>
          </a:xfrm>
          <a:prstGeom prst="rect">
            <a:avLst/>
          </a:prstGeom>
          <a:noFill/>
          <a:ln/>
        </p:spPr>
        <p:txBody>
          <a:bodyPr wrap="square" lIns="0" tIns="0" rIns="0" bIns="0" rtlCol="0" anchor="t"/>
          <a:lstStyle/>
          <a:p>
            <a:pPr indent="0" marL="0">
              <a:buNone/>
            </a:pPr>
            <a:r>
              <a:rPr lang="en-US" sz="1400" dirty="0">
                <a:solidFill>
                  <a:schemeClr val="tx2"/>
                </a:solidFill>
              </a:rPr>
              <a:t>UI and System Integration</a:t>
            </a:r>
            <a:endParaRPr lang="en-US" sz="1400" dirty="0"/>
          </a:p>
        </p:txBody>
      </p:sp>
      <p:sp>
        <p:nvSpPr>
          <p:cNvPr id="20" name="text-63"/>
          <p:cNvSpPr txBox="1"/>
          <p:nvPr/>
        </p:nvSpPr>
        <p:spPr>
          <a:xfrm>
            <a:off x="4892040" y="3657600"/>
            <a:ext cx="1554480" cy="685800"/>
          </a:xfrm>
          <a:prstGeom prst="rect">
            <a:avLst/>
          </a:prstGeom>
          <a:noFill/>
          <a:ln/>
        </p:spPr>
        <p:txBody>
          <a:bodyPr wrap="square" lIns="0" tIns="0" rIns="0" bIns="0" rtlCol="0" anchor="t"/>
          <a:lstStyle/>
          <a:p>
            <a:pPr indent="0" marL="0">
              <a:buNone/>
            </a:pPr>
            <a:r>
              <a:rPr lang="en-US" sz="1400" b="1" dirty="0">
                <a:solidFill>
                  <a:schemeClr val="tx1"/>
                </a:solidFill>
              </a:rPr>
              <a:t>RunwayUI.java</a:t>
            </a:r>
            <a:endParaRPr lang="en-US" sz="1400" dirty="0"/>
          </a:p>
        </p:txBody>
      </p:sp>
      <p:sp>
        <p:nvSpPr>
          <p:cNvPr id="21" name="card-64"/>
          <p:cNvSpPr/>
          <p:nvPr/>
        </p:nvSpPr>
        <p:spPr>
          <a:xfrm>
            <a:off x="6766560" y="1371600"/>
            <a:ext cx="1920240" cy="3108960"/>
          </a:xfrm>
          <a:prstGeom prst="roundRect">
            <a:avLst>
              <a:gd name="adj" fmla="val 4762"/>
            </a:avLst>
          </a:prstGeom>
          <a:solidFill>
            <a:schemeClr val="bg2"/>
          </a:solidFill>
          <a:ln w="12700">
            <a:solidFill>
              <a:schemeClr val="bg2"/>
            </a:solidFill>
            <a:prstDash val="solid"/>
          </a:ln>
        </p:spPr>
      </p:sp>
      <p:sp>
        <p:nvSpPr>
          <p:cNvPr id="22" name="icon-bg-65"/>
          <p:cNvSpPr/>
          <p:nvPr/>
        </p:nvSpPr>
        <p:spPr>
          <a:xfrm>
            <a:off x="6995160" y="1554480"/>
            <a:ext cx="594360" cy="594360"/>
          </a:xfrm>
          <a:prstGeom prst="ellipse">
            <a:avLst/>
          </a:prstGeom>
          <a:solidFill>
            <a:schemeClr val="accent3"/>
          </a:solidFill>
          <a:ln w="12700">
            <a:solidFill>
              <a:schemeClr val="accent3"/>
            </a:solidFill>
            <a:prstDash val="solid"/>
          </a:ln>
        </p:spPr>
      </p:sp>
      <p:pic>
        <p:nvPicPr>
          <p:cNvPr id="23" name="icon-66" descr="icon">    </p:cNvPr>
          <p:cNvPicPr>
            <a:picLocks noChangeAspect="1"/>
          </p:cNvPicPr>
          <p:nvPr/>
        </p:nvPicPr>
        <p:blipFill>
          <a:blip r:embed="rId4"/>
          <a:stretch>
            <a:fillRect/>
          </a:stretch>
        </p:blipFill>
        <p:spPr>
          <a:xfrm>
            <a:off x="7143750" y="1703070"/>
            <a:ext cx="297180" cy="297180"/>
          </a:xfrm>
          <a:prstGeom prst="rect">
            <a:avLst/>
          </a:prstGeom>
        </p:spPr>
      </p:pic>
      <p:sp>
        <p:nvSpPr>
          <p:cNvPr id="24" name="text-67"/>
          <p:cNvSpPr txBox="1"/>
          <p:nvPr/>
        </p:nvSpPr>
        <p:spPr>
          <a:xfrm>
            <a:off x="6995160" y="2286000"/>
            <a:ext cx="1554480" cy="365760"/>
          </a:xfrm>
          <a:prstGeom prst="rect">
            <a:avLst/>
          </a:prstGeom>
          <a:noFill/>
          <a:ln/>
        </p:spPr>
        <p:txBody>
          <a:bodyPr wrap="square" lIns="0" tIns="0" rIns="0" bIns="0" rtlCol="0" anchor="t"/>
          <a:lstStyle/>
          <a:p>
            <a:pPr indent="0" marL="0">
              <a:buNone/>
            </a:pPr>
            <a:r>
              <a:rPr lang="en-US" sz="2000" b="1" dirty="0">
                <a:solidFill>
                  <a:schemeClr val="tx1"/>
                </a:solidFill>
              </a:rPr>
              <a:t>Devika</a:t>
            </a:r>
            <a:endParaRPr lang="en-US" sz="2000" dirty="0"/>
          </a:p>
        </p:txBody>
      </p:sp>
      <p:sp>
        <p:nvSpPr>
          <p:cNvPr id="25" name="text-68"/>
          <p:cNvSpPr txBox="1"/>
          <p:nvPr/>
        </p:nvSpPr>
        <p:spPr>
          <a:xfrm>
            <a:off x="6995160" y="2697480"/>
            <a:ext cx="1554480" cy="868680"/>
          </a:xfrm>
          <a:prstGeom prst="rect">
            <a:avLst/>
          </a:prstGeom>
          <a:noFill/>
          <a:ln/>
        </p:spPr>
        <p:txBody>
          <a:bodyPr wrap="square" lIns="0" tIns="0" rIns="0" bIns="0" rtlCol="0" anchor="t"/>
          <a:lstStyle/>
          <a:p>
            <a:pPr indent="0" marL="0">
              <a:buNone/>
            </a:pPr>
            <a:r>
              <a:rPr lang="en-US" sz="1400" dirty="0">
                <a:solidFill>
                  <a:schemeClr val="tx2"/>
                </a:solidFill>
              </a:rPr>
              <a:t>File Handling and System Testing</a:t>
            </a:r>
            <a:endParaRPr lang="en-US" sz="1400" dirty="0"/>
          </a:p>
        </p:txBody>
      </p:sp>
      <p:sp>
        <p:nvSpPr>
          <p:cNvPr id="26" name="text-69"/>
          <p:cNvSpPr txBox="1"/>
          <p:nvPr/>
        </p:nvSpPr>
        <p:spPr>
          <a:xfrm>
            <a:off x="6995160" y="3657600"/>
            <a:ext cx="1554480" cy="685800"/>
          </a:xfrm>
          <a:prstGeom prst="rect">
            <a:avLst/>
          </a:prstGeom>
          <a:noFill/>
          <a:ln/>
        </p:spPr>
        <p:txBody>
          <a:bodyPr wrap="square" lIns="0" tIns="0" rIns="0" bIns="0" rtlCol="0" anchor="t"/>
          <a:lstStyle/>
          <a:p>
            <a:pPr indent="0" marL="0">
              <a:buNone/>
            </a:pPr>
            <a:r>
              <a:rPr lang="en-US" sz="1400" b="1" dirty="0">
                <a:solidFill>
                  <a:schemeClr val="tx1"/>
                </a:solidFill>
              </a:rPr>
              <a:t>FileHandler.java</a:t>
            </a:r>
            <a:endParaRPr lang="en-US" sz="1400" dirty="0"/>
          </a:p>
          <a:p>
            <a:pPr indent="0" marL="0">
              <a:buNone/>
            </a:pPr>
            <a:r>
              <a:rPr lang="en-US" sz="1400" b="1" dirty="0">
                <a:solidFill>
                  <a:schemeClr val="tx1"/>
                </a:solidFill>
              </a:rPr>
              <a:t>TestRunway.java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Aircraft: the data model</a:t>
            </a:r>
            <a:endParaRPr lang="en-US" sz="3400" dirty="0"/>
          </a:p>
        </p:txBody>
      </p:sp>
      <p:sp>
        <p:nvSpPr>
          <p:cNvPr id="3" name="uml-box-70"/>
          <p:cNvSpPr/>
          <p:nvPr/>
        </p:nvSpPr>
        <p:spPr>
          <a:xfrm>
            <a:off x="457200" y="1371600"/>
            <a:ext cx="3931920" cy="2697480"/>
          </a:xfrm>
          <a:prstGeom prst="rect">
            <a:avLst/>
          </a:prstGeom>
          <a:solidFill>
            <a:schemeClr val="bg2"/>
          </a:solidFill>
          <a:ln w="19050">
            <a:solidFill>
              <a:schemeClr val="tx1"/>
            </a:solidFill>
            <a:prstDash val="solid"/>
          </a:ln>
        </p:spPr>
      </p:sp>
      <p:sp>
        <p:nvSpPr>
          <p:cNvPr id="4" name="uml-header-71"/>
          <p:cNvSpPr/>
          <p:nvPr/>
        </p:nvSpPr>
        <p:spPr>
          <a:xfrm>
            <a:off x="457200" y="1371600"/>
            <a:ext cx="3931920" cy="502920"/>
          </a:xfrm>
          <a:prstGeom prst="rect">
            <a:avLst/>
          </a:prstGeom>
          <a:solidFill>
            <a:schemeClr val="accent1"/>
          </a:solidFill>
          <a:ln w="19050">
            <a:solidFill>
              <a:schemeClr val="tx1"/>
            </a:solidFill>
            <a:prstDash val="solid"/>
          </a:ln>
        </p:spPr>
      </p:sp>
      <p:sp>
        <p:nvSpPr>
          <p:cNvPr id="5" name="text-72"/>
          <p:cNvSpPr txBox="1"/>
          <p:nvPr/>
        </p:nvSpPr>
        <p:spPr>
          <a:xfrm>
            <a:off x="457200" y="1371600"/>
            <a:ext cx="3931920" cy="502920"/>
          </a:xfrm>
          <a:prstGeom prst="rect">
            <a:avLst/>
          </a:prstGeom>
          <a:noFill/>
          <a:ln/>
        </p:spPr>
        <p:txBody>
          <a:bodyPr wrap="square" lIns="0" tIns="0" rIns="0" bIns="0" rtlCol="0" anchor="ctr"/>
          <a:lstStyle/>
          <a:p>
            <a:pPr algn="ctr" indent="0" marL="0">
              <a:buNone/>
            </a:pPr>
            <a:r>
              <a:rPr lang="en-US" sz="1800" b="1" dirty="0">
                <a:solidFill>
                  <a:schemeClr val="tx1"/>
                </a:solidFill>
              </a:rPr>
              <a:t>Aircraft</a:t>
            </a:r>
            <a:endParaRPr lang="en-US" sz="1800" dirty="0"/>
          </a:p>
        </p:txBody>
      </p:sp>
      <p:sp>
        <p:nvSpPr>
          <p:cNvPr id="6" name="text-73"/>
          <p:cNvSpPr txBox="1"/>
          <p:nvPr/>
        </p:nvSpPr>
        <p:spPr>
          <a:xfrm>
            <a:off x="685800" y="2011680"/>
            <a:ext cx="3474720" cy="10972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flightNo : String</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airline : String</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type : String</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isEmergency : boolean</a:t>
            </a:r>
            <a:endParaRPr lang="en-US" sz="1400" dirty="0"/>
          </a:p>
        </p:txBody>
      </p:sp>
      <p:sp>
        <p:nvSpPr>
          <p:cNvPr id="7" name="uml-divider-74"/>
          <p:cNvSpPr/>
          <p:nvPr/>
        </p:nvSpPr>
        <p:spPr>
          <a:xfrm>
            <a:off x="457200" y="3246120"/>
            <a:ext cx="3931920" cy="0"/>
          </a:xfrm>
          <a:prstGeom prst="line">
            <a:avLst/>
          </a:prstGeom>
          <a:noFill/>
          <a:ln w="19050">
            <a:solidFill>
              <a:schemeClr val="tx1"/>
            </a:solidFill>
            <a:prstDash val="solid"/>
          </a:ln>
        </p:spPr>
      </p:sp>
      <p:sp>
        <p:nvSpPr>
          <p:cNvPr id="8" name="text-75"/>
          <p:cNvSpPr txBox="1"/>
          <p:nvPr/>
        </p:nvSpPr>
        <p:spPr>
          <a:xfrm>
            <a:off x="685800" y="3383280"/>
            <a:ext cx="3474720" cy="59436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Aircraft(...)</a:t>
            </a:r>
            <a:endParaRPr lang="en-US" sz="14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toString() : String</a:t>
            </a:r>
            <a:endParaRPr lang="en-US" sz="1400" dirty="0"/>
          </a:p>
        </p:txBody>
      </p:sp>
      <p:sp>
        <p:nvSpPr>
          <p:cNvPr id="9" name="text-76"/>
          <p:cNvSpPr txBox="1"/>
          <p:nvPr/>
        </p:nvSpPr>
        <p:spPr>
          <a:xfrm>
            <a:off x="457200" y="4206240"/>
            <a:ext cx="3931920" cy="274320"/>
          </a:xfrm>
          <a:prstGeom prst="rect">
            <a:avLst/>
          </a:prstGeom>
          <a:noFill/>
          <a:ln/>
        </p:spPr>
        <p:txBody>
          <a:bodyPr wrap="square" lIns="0" tIns="0" rIns="0" bIns="0" rtlCol="0" anchor="t"/>
          <a:lstStyle/>
          <a:p>
            <a:pPr indent="0" marL="0">
              <a:buNone/>
            </a:pPr>
            <a:r>
              <a:rPr lang="en-US" sz="1200" dirty="0">
                <a:solidFill>
                  <a:schemeClr val="accent6"/>
                </a:solidFill>
              </a:rPr>
              <a:t>type is “Landing” or “Takeoff”</a:t>
            </a:r>
            <a:endParaRPr lang="en-US" sz="1200" dirty="0"/>
          </a:p>
        </p:txBody>
      </p:sp>
      <p:sp>
        <p:nvSpPr>
          <p:cNvPr id="10" name="card-77"/>
          <p:cNvSpPr/>
          <p:nvPr/>
        </p:nvSpPr>
        <p:spPr>
          <a:xfrm>
            <a:off x="4754880" y="1371600"/>
            <a:ext cx="3931920" cy="1051560"/>
          </a:xfrm>
          <a:prstGeom prst="roundRect">
            <a:avLst>
              <a:gd name="adj" fmla="val 8696"/>
            </a:avLst>
          </a:prstGeom>
          <a:solidFill>
            <a:schemeClr val="bg2"/>
          </a:solidFill>
          <a:ln w="12700">
            <a:solidFill>
              <a:schemeClr val="bg2"/>
            </a:solidFill>
            <a:prstDash val="solid"/>
          </a:ln>
        </p:spPr>
      </p:sp>
      <p:sp>
        <p:nvSpPr>
          <p:cNvPr id="11" name="text-78"/>
          <p:cNvSpPr txBox="1"/>
          <p:nvPr/>
        </p:nvSpPr>
        <p:spPr>
          <a:xfrm>
            <a:off x="4983480" y="1508760"/>
            <a:ext cx="3474720" cy="320040"/>
          </a:xfrm>
          <a:prstGeom prst="rect">
            <a:avLst/>
          </a:prstGeom>
          <a:noFill/>
          <a:ln/>
        </p:spPr>
        <p:txBody>
          <a:bodyPr wrap="square" lIns="0" tIns="0" rIns="0" bIns="0" rtlCol="0" anchor="t"/>
          <a:lstStyle/>
          <a:p>
            <a:pPr indent="0" marL="0">
              <a:buNone/>
            </a:pPr>
            <a:r>
              <a:rPr lang="en-US" sz="1800" b="1" dirty="0">
                <a:solidFill>
                  <a:schemeClr val="tx1"/>
                </a:solidFill>
              </a:rPr>
              <a:t>Encapsulation</a:t>
            </a:r>
            <a:endParaRPr lang="en-US" sz="1800" dirty="0"/>
          </a:p>
        </p:txBody>
      </p:sp>
      <p:sp>
        <p:nvSpPr>
          <p:cNvPr id="12" name="text-79"/>
          <p:cNvSpPr txBox="1"/>
          <p:nvPr/>
        </p:nvSpPr>
        <p:spPr>
          <a:xfrm>
            <a:off x="4983480" y="1847088"/>
            <a:ext cx="3474720" cy="502920"/>
          </a:xfrm>
          <a:prstGeom prst="rect">
            <a:avLst/>
          </a:prstGeom>
          <a:noFill/>
          <a:ln/>
        </p:spPr>
        <p:txBody>
          <a:bodyPr wrap="square" lIns="0" tIns="0" rIns="0" bIns="0" rtlCol="0" anchor="t"/>
          <a:lstStyle/>
          <a:p>
            <a:pPr indent="0" marL="0">
              <a:buNone/>
            </a:pPr>
            <a:r>
              <a:rPr lang="en-US" sz="1400" dirty="0">
                <a:solidFill>
                  <a:schemeClr val="tx2"/>
                </a:solidFill>
              </a:rPr>
              <a:t>Flight attributes are bundled together in one class.</a:t>
            </a:r>
            <a:endParaRPr lang="en-US" sz="1400" dirty="0"/>
          </a:p>
        </p:txBody>
      </p:sp>
      <p:sp>
        <p:nvSpPr>
          <p:cNvPr id="13" name="card-80"/>
          <p:cNvSpPr/>
          <p:nvPr/>
        </p:nvSpPr>
        <p:spPr>
          <a:xfrm>
            <a:off x="4754880" y="2560320"/>
            <a:ext cx="3931920" cy="1051560"/>
          </a:xfrm>
          <a:prstGeom prst="roundRect">
            <a:avLst>
              <a:gd name="adj" fmla="val 8696"/>
            </a:avLst>
          </a:prstGeom>
          <a:solidFill>
            <a:schemeClr val="bg2"/>
          </a:solidFill>
          <a:ln w="12700">
            <a:solidFill>
              <a:schemeClr val="bg2"/>
            </a:solidFill>
            <a:prstDash val="solid"/>
          </a:ln>
        </p:spPr>
      </p:sp>
      <p:sp>
        <p:nvSpPr>
          <p:cNvPr id="14" name="text-81"/>
          <p:cNvSpPr txBox="1"/>
          <p:nvPr/>
        </p:nvSpPr>
        <p:spPr>
          <a:xfrm>
            <a:off x="4983480" y="2697480"/>
            <a:ext cx="3474720" cy="320040"/>
          </a:xfrm>
          <a:prstGeom prst="rect">
            <a:avLst/>
          </a:prstGeom>
          <a:noFill/>
          <a:ln/>
        </p:spPr>
        <p:txBody>
          <a:bodyPr wrap="square" lIns="0" tIns="0" rIns="0" bIns="0" rtlCol="0" anchor="t"/>
          <a:lstStyle/>
          <a:p>
            <a:pPr indent="0" marL="0">
              <a:buNone/>
            </a:pPr>
            <a:r>
              <a:rPr lang="en-US" sz="1800" b="1" dirty="0">
                <a:solidFill>
                  <a:schemeClr val="tx1"/>
                </a:solidFill>
              </a:rPr>
              <a:t>Polymorphism</a:t>
            </a:r>
            <a:endParaRPr lang="en-US" sz="1800" dirty="0"/>
          </a:p>
        </p:txBody>
      </p:sp>
      <p:sp>
        <p:nvSpPr>
          <p:cNvPr id="15" name="text-82"/>
          <p:cNvSpPr txBox="1"/>
          <p:nvPr/>
        </p:nvSpPr>
        <p:spPr>
          <a:xfrm>
            <a:off x="4983480" y="3035808"/>
            <a:ext cx="3474720" cy="502920"/>
          </a:xfrm>
          <a:prstGeom prst="rect">
            <a:avLst/>
          </a:prstGeom>
          <a:noFill/>
          <a:ln/>
        </p:spPr>
        <p:txBody>
          <a:bodyPr wrap="square" lIns="0" tIns="0" rIns="0" bIns="0" rtlCol="0" anchor="t"/>
          <a:lstStyle/>
          <a:p>
            <a:pPr indent="0" marL="0">
              <a:buNone/>
            </a:pPr>
            <a:r>
              <a:rPr lang="en-US" sz="1400" dirty="0">
                <a:solidFill>
                  <a:schemeClr val="tx2"/>
                </a:solidFill>
              </a:rPr>
              <a:t>toString() is overridden from Object to format flights for the GUI and logs.</a:t>
            </a:r>
            <a:endParaRPr lang="en-US" sz="1400" dirty="0"/>
          </a:p>
        </p:txBody>
      </p:sp>
      <p:sp>
        <p:nvSpPr>
          <p:cNvPr id="16" name="card-83"/>
          <p:cNvSpPr/>
          <p:nvPr/>
        </p:nvSpPr>
        <p:spPr>
          <a:xfrm>
            <a:off x="4754880" y="3749040"/>
            <a:ext cx="3931920" cy="640080"/>
          </a:xfrm>
          <a:prstGeom prst="roundRect">
            <a:avLst>
              <a:gd name="adj" fmla="val 14286"/>
            </a:avLst>
          </a:prstGeom>
          <a:solidFill>
            <a:schemeClr val="tx1"/>
          </a:solidFill>
          <a:ln w="12700">
            <a:solidFill>
              <a:schemeClr val="tx1"/>
            </a:solidFill>
            <a:prstDash val="solid"/>
          </a:ln>
        </p:spPr>
      </p:sp>
      <p:sp>
        <p:nvSpPr>
          <p:cNvPr id="17" name="text-84"/>
          <p:cNvSpPr txBox="1"/>
          <p:nvPr/>
        </p:nvSpPr>
        <p:spPr>
          <a:xfrm>
            <a:off x="4754880" y="3749040"/>
            <a:ext cx="3931920" cy="640080"/>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[EMERGENCY] AI-101 (Air India)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Custom priority queue</a:t>
            </a:r>
            <a:endParaRPr lang="en-US" sz="3400" dirty="0"/>
          </a:p>
        </p:txBody>
      </p:sp>
      <p:sp>
        <p:nvSpPr>
          <p:cNvPr id="3" name="text-85"/>
          <p:cNvSpPr txBox="1"/>
          <p:nvPr/>
        </p:nvSpPr>
        <p:spPr>
          <a:xfrm>
            <a:off x="822960" y="1280160"/>
            <a:ext cx="1371600" cy="228600"/>
          </a:xfrm>
          <a:prstGeom prst="rect">
            <a:avLst/>
          </a:prstGeom>
          <a:noFill/>
          <a:ln/>
        </p:spPr>
        <p:txBody>
          <a:bodyPr wrap="square" lIns="0" tIns="0" rIns="0" bIns="0" rtlCol="0" anchor="t"/>
          <a:lstStyle/>
          <a:p>
            <a:pPr algn="ctr" indent="0" marL="0">
              <a:buNone/>
            </a:pPr>
            <a:r>
              <a:rPr lang="en-US" sz="1200" b="1" dirty="0">
                <a:solidFill>
                  <a:schemeClr val="accent6"/>
                </a:solidFill>
              </a:rPr>
              <a:t>FRONT (head)</a:t>
            </a:r>
            <a:endParaRPr lang="en-US" sz="1200" dirty="0"/>
          </a:p>
        </p:txBody>
      </p:sp>
      <p:sp>
        <p:nvSpPr>
          <p:cNvPr id="4" name="text-86"/>
          <p:cNvSpPr txBox="1"/>
          <p:nvPr/>
        </p:nvSpPr>
        <p:spPr>
          <a:xfrm>
            <a:off x="4663440" y="1280160"/>
            <a:ext cx="1371600" cy="228600"/>
          </a:xfrm>
          <a:prstGeom prst="rect">
            <a:avLst/>
          </a:prstGeom>
          <a:noFill/>
          <a:ln/>
        </p:spPr>
        <p:txBody>
          <a:bodyPr wrap="square" lIns="0" tIns="0" rIns="0" bIns="0" rtlCol="0" anchor="t"/>
          <a:lstStyle/>
          <a:p>
            <a:pPr algn="ctr" indent="0" marL="0">
              <a:buNone/>
            </a:pPr>
            <a:r>
              <a:rPr lang="en-US" sz="1200" b="1" dirty="0">
                <a:solidFill>
                  <a:schemeClr val="accent6"/>
                </a:solidFill>
              </a:rPr>
              <a:t>REAR (tail)</a:t>
            </a:r>
            <a:endParaRPr lang="en-US" sz="1200" dirty="0"/>
          </a:p>
        </p:txBody>
      </p:sp>
      <p:sp>
        <p:nvSpPr>
          <p:cNvPr id="5" name="node-87"/>
          <p:cNvSpPr/>
          <p:nvPr/>
        </p:nvSpPr>
        <p:spPr>
          <a:xfrm>
            <a:off x="822960" y="1600200"/>
            <a:ext cx="1371600" cy="731520"/>
          </a:xfrm>
          <a:prstGeom prst="roundRect">
            <a:avLst>
              <a:gd name="adj" fmla="val 12500"/>
            </a:avLst>
          </a:prstGeom>
          <a:solidFill>
            <a:schemeClr val="accent1"/>
          </a:solidFill>
          <a:ln w="12700">
            <a:solidFill>
              <a:schemeClr val="accent1"/>
            </a:solidFill>
            <a:prstDash val="solid"/>
          </a:ln>
        </p:spPr>
      </p:sp>
      <p:sp>
        <p:nvSpPr>
          <p:cNvPr id="6" name="text-88"/>
          <p:cNvSpPr txBox="1"/>
          <p:nvPr/>
        </p:nvSpPr>
        <p:spPr>
          <a:xfrm>
            <a:off x="822960" y="160020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EMERGENCY</a:t>
            </a:r>
            <a:endParaRPr lang="en-US" sz="1400" dirty="0"/>
          </a:p>
        </p:txBody>
      </p:sp>
      <p:sp>
        <p:nvSpPr>
          <p:cNvPr id="7" name="node-89"/>
          <p:cNvSpPr/>
          <p:nvPr/>
        </p:nvSpPr>
        <p:spPr>
          <a:xfrm>
            <a:off x="2743200" y="1600200"/>
            <a:ext cx="1371600" cy="731520"/>
          </a:xfrm>
          <a:prstGeom prst="roundRect">
            <a:avLst>
              <a:gd name="adj" fmla="val 12500"/>
            </a:avLst>
          </a:prstGeom>
          <a:solidFill>
            <a:schemeClr val="accent2"/>
          </a:solidFill>
          <a:ln w="12700">
            <a:solidFill>
              <a:schemeClr val="accent2"/>
            </a:solidFill>
            <a:prstDash val="solid"/>
          </a:ln>
        </p:spPr>
      </p:sp>
      <p:sp>
        <p:nvSpPr>
          <p:cNvPr id="8" name="text-90"/>
          <p:cNvSpPr txBox="1"/>
          <p:nvPr/>
        </p:nvSpPr>
        <p:spPr>
          <a:xfrm>
            <a:off x="2743200" y="1600200"/>
            <a:ext cx="1371600" cy="731520"/>
          </a:xfrm>
          <a:prstGeom prst="rect">
            <a:avLst/>
          </a:prstGeom>
          <a:noFill/>
          <a:ln/>
        </p:spPr>
        <p:txBody>
          <a:bodyPr wrap="square" lIns="0" tIns="0" rIns="0" bIns="0" rtlCol="0" anchor="ctr"/>
          <a:lstStyle/>
          <a:p>
            <a:pPr algn="ctr" indent="0" marL="0">
              <a:buNone/>
            </a:pPr>
            <a:r>
              <a:rPr lang="en-US" sz="1400" b="1" dirty="0">
                <a:solidFill>
                  <a:schemeClr val="bg1"/>
                </a:solidFill>
              </a:rPr>
              <a:t>Normal</a:t>
            </a:r>
            <a:endParaRPr lang="en-US" sz="1400" dirty="0"/>
          </a:p>
        </p:txBody>
      </p:sp>
      <p:sp>
        <p:nvSpPr>
          <p:cNvPr id="9" name="node-91"/>
          <p:cNvSpPr/>
          <p:nvPr/>
        </p:nvSpPr>
        <p:spPr>
          <a:xfrm>
            <a:off x="4663440" y="1600200"/>
            <a:ext cx="1371600" cy="731520"/>
          </a:xfrm>
          <a:prstGeom prst="roundRect">
            <a:avLst>
              <a:gd name="adj" fmla="val 12500"/>
            </a:avLst>
          </a:prstGeom>
          <a:solidFill>
            <a:schemeClr val="accent2"/>
          </a:solidFill>
          <a:ln w="12700">
            <a:solidFill>
              <a:schemeClr val="accent2"/>
            </a:solidFill>
            <a:prstDash val="solid"/>
          </a:ln>
        </p:spPr>
      </p:sp>
      <p:sp>
        <p:nvSpPr>
          <p:cNvPr id="10" name="text-92"/>
          <p:cNvSpPr txBox="1"/>
          <p:nvPr/>
        </p:nvSpPr>
        <p:spPr>
          <a:xfrm>
            <a:off x="4663440" y="1600200"/>
            <a:ext cx="1371600" cy="731520"/>
          </a:xfrm>
          <a:prstGeom prst="rect">
            <a:avLst/>
          </a:prstGeom>
          <a:noFill/>
          <a:ln/>
        </p:spPr>
        <p:txBody>
          <a:bodyPr wrap="square" lIns="0" tIns="0" rIns="0" bIns="0" rtlCol="0" anchor="ctr"/>
          <a:lstStyle/>
          <a:p>
            <a:pPr algn="ctr" indent="0" marL="0">
              <a:buNone/>
            </a:pPr>
            <a:r>
              <a:rPr lang="en-US" sz="1400" b="1" dirty="0">
                <a:solidFill>
                  <a:schemeClr val="bg1"/>
                </a:solidFill>
              </a:rPr>
              <a:t>Normal</a:t>
            </a:r>
            <a:endParaRPr lang="en-US" sz="1400" dirty="0"/>
          </a:p>
        </p:txBody>
      </p:sp>
      <p:sp>
        <p:nvSpPr>
          <p:cNvPr id="11" name="link-93"/>
          <p:cNvSpPr/>
          <p:nvPr/>
        </p:nvSpPr>
        <p:spPr>
          <a:xfrm>
            <a:off x="2194560" y="1965960"/>
            <a:ext cx="548640" cy="0"/>
          </a:xfrm>
          <a:prstGeom prst="line">
            <a:avLst/>
          </a:prstGeom>
          <a:noFill/>
          <a:ln w="25400">
            <a:solidFill>
              <a:schemeClr val="tx1"/>
            </a:solidFill>
            <a:prstDash val="solid"/>
            <a:tailEnd type="triangle"/>
          </a:ln>
        </p:spPr>
      </p:sp>
      <p:sp>
        <p:nvSpPr>
          <p:cNvPr id="12" name="link-94"/>
          <p:cNvSpPr/>
          <p:nvPr/>
        </p:nvSpPr>
        <p:spPr>
          <a:xfrm>
            <a:off x="4114800" y="1965960"/>
            <a:ext cx="548640" cy="0"/>
          </a:xfrm>
          <a:prstGeom prst="line">
            <a:avLst/>
          </a:prstGeom>
          <a:noFill/>
          <a:ln w="25400">
            <a:solidFill>
              <a:schemeClr val="tx1"/>
            </a:solidFill>
            <a:prstDash val="solid"/>
            <a:tailEnd type="triangle"/>
          </a:ln>
        </p:spPr>
      </p:sp>
      <p:sp>
        <p:nvSpPr>
          <p:cNvPr id="13" name="link-95"/>
          <p:cNvSpPr/>
          <p:nvPr/>
        </p:nvSpPr>
        <p:spPr>
          <a:xfrm>
            <a:off x="6035040" y="1965960"/>
            <a:ext cx="548640" cy="0"/>
          </a:xfrm>
          <a:prstGeom prst="line">
            <a:avLst/>
          </a:prstGeom>
          <a:noFill/>
          <a:ln w="25400">
            <a:solidFill>
              <a:schemeClr val="tx1"/>
            </a:solidFill>
            <a:prstDash val="solid"/>
            <a:tailEnd type="triangle"/>
          </a:ln>
        </p:spPr>
      </p:sp>
      <p:sp>
        <p:nvSpPr>
          <p:cNvPr id="14" name="text-96"/>
          <p:cNvSpPr txBox="1"/>
          <p:nvPr/>
        </p:nvSpPr>
        <p:spPr>
          <a:xfrm>
            <a:off x="6675120" y="1828800"/>
            <a:ext cx="731520" cy="274320"/>
          </a:xfrm>
          <a:prstGeom prst="rect">
            <a:avLst/>
          </a:prstGeom>
          <a:noFill/>
          <a:ln/>
        </p:spPr>
        <p:txBody>
          <a:bodyPr wrap="square" lIns="0" tIns="0" rIns="0" bIns="0" rtlCol="0" anchor="t"/>
          <a:lstStyle/>
          <a:p>
            <a:pPr indent="0" marL="0">
              <a:buNone/>
            </a:pPr>
            <a:r>
              <a:rPr lang="en-US" sz="1400" dirty="0">
                <a:solidFill>
                  <a:schemeClr val="accent6"/>
                </a:solidFill>
                <a:latin typeface="Courier New" pitchFamily="34" charset="0"/>
                <a:ea typeface="Courier New" pitchFamily="34" charset="-122"/>
                <a:cs typeface="Courier New" pitchFamily="34" charset="-120"/>
              </a:rPr>
              <a:t>null</a:t>
            </a:r>
            <a:endParaRPr lang="en-US" sz="1400" dirty="0"/>
          </a:p>
        </p:txBody>
      </p:sp>
      <p:sp>
        <p:nvSpPr>
          <p:cNvPr id="15" name="text-97"/>
          <p:cNvSpPr txBox="1"/>
          <p:nvPr/>
        </p:nvSpPr>
        <p:spPr>
          <a:xfrm>
            <a:off x="457200" y="2423160"/>
            <a:ext cx="2743200" cy="228600"/>
          </a:xfrm>
          <a:prstGeom prst="rect">
            <a:avLst/>
          </a:prstGeom>
          <a:noFill/>
          <a:ln/>
        </p:spPr>
        <p:txBody>
          <a:bodyPr wrap="square" lIns="0" tIns="0" rIns="0" bIns="0" rtlCol="0" anchor="t"/>
          <a:lstStyle/>
          <a:p>
            <a:pPr indent="0" marL="0">
              <a:buNone/>
            </a:pPr>
            <a:r>
              <a:rPr lang="en-US" sz="1200" dirty="0">
                <a:solidFill>
                  <a:schemeClr val="accent6"/>
                </a:solidFill>
              </a:rPr>
              <a:t>emergency flights enter and leave here</a:t>
            </a:r>
            <a:endParaRPr lang="en-US" sz="1200" dirty="0"/>
          </a:p>
        </p:txBody>
      </p:sp>
      <p:sp>
        <p:nvSpPr>
          <p:cNvPr id="16" name="text-98"/>
          <p:cNvSpPr txBox="1"/>
          <p:nvPr/>
        </p:nvSpPr>
        <p:spPr>
          <a:xfrm>
            <a:off x="4480560" y="2423160"/>
            <a:ext cx="1828800" cy="228600"/>
          </a:xfrm>
          <a:prstGeom prst="rect">
            <a:avLst/>
          </a:prstGeom>
          <a:noFill/>
          <a:ln/>
        </p:spPr>
        <p:txBody>
          <a:bodyPr wrap="square" lIns="0" tIns="0" rIns="0" bIns="0" rtlCol="0" anchor="t"/>
          <a:lstStyle/>
          <a:p>
            <a:pPr indent="0" marL="0">
              <a:buNone/>
            </a:pPr>
            <a:r>
              <a:rPr lang="en-US" sz="1200" dirty="0">
                <a:solidFill>
                  <a:schemeClr val="accent6"/>
                </a:solidFill>
              </a:rPr>
              <a:t>normal flights join here</a:t>
            </a:r>
            <a:endParaRPr lang="en-US" sz="1200" dirty="0"/>
          </a:p>
        </p:txBody>
      </p:sp>
      <p:sp>
        <p:nvSpPr>
          <p:cNvPr id="17" name="card-99"/>
          <p:cNvSpPr/>
          <p:nvPr/>
        </p:nvSpPr>
        <p:spPr>
          <a:xfrm>
            <a:off x="457200" y="2834640"/>
            <a:ext cx="2560320" cy="1325880"/>
          </a:xfrm>
          <a:prstGeom prst="roundRect">
            <a:avLst>
              <a:gd name="adj" fmla="val 6897"/>
            </a:avLst>
          </a:prstGeom>
          <a:solidFill>
            <a:schemeClr val="bg2"/>
          </a:solidFill>
          <a:ln w="12700">
            <a:solidFill>
              <a:schemeClr val="bg2"/>
            </a:solidFill>
            <a:prstDash val="solid"/>
          </a:ln>
        </p:spPr>
      </p:sp>
      <p:sp>
        <p:nvSpPr>
          <p:cNvPr id="18" name="text-100"/>
          <p:cNvSpPr txBox="1"/>
          <p:nvPr/>
        </p:nvSpPr>
        <p:spPr>
          <a:xfrm>
            <a:off x="685800" y="2971800"/>
            <a:ext cx="1554480" cy="274320"/>
          </a:xfrm>
          <a:prstGeom prst="rect">
            <a:avLst/>
          </a:prstGeom>
          <a:noFill/>
          <a:ln/>
        </p:spPr>
        <p:txBody>
          <a:bodyPr wrap="square" lIns="0" tIns="0" rIns="0" bIns="0" rtlCol="0" anchor="t"/>
          <a:lstStyle/>
          <a:p>
            <a:pPr indent="0" marL="0">
              <a:buNone/>
            </a:pPr>
            <a:r>
              <a:rPr lang="en-US" sz="1600" b="1" dirty="0">
                <a:solidFill>
                  <a:schemeClr val="tx1"/>
                </a:solidFill>
              </a:rPr>
              <a:t>Normal flight</a:t>
            </a:r>
            <a:endParaRPr lang="en-US" sz="1600" dirty="0"/>
          </a:p>
        </p:txBody>
      </p:sp>
      <p:sp>
        <p:nvSpPr>
          <p:cNvPr id="19" name="text-101"/>
          <p:cNvSpPr txBox="1"/>
          <p:nvPr/>
        </p:nvSpPr>
        <p:spPr>
          <a:xfrm>
            <a:off x="2148840" y="2926080"/>
            <a:ext cx="731520" cy="365760"/>
          </a:xfrm>
          <a:prstGeom prst="rect">
            <a:avLst/>
          </a:prstGeom>
          <a:noFill/>
          <a:ln/>
        </p:spPr>
        <p:txBody>
          <a:bodyPr wrap="square" lIns="0" tIns="0" rIns="0" bIns="0" rtlCol="0" anchor="t"/>
          <a:lstStyle/>
          <a:p>
            <a:pPr algn="r" indent="0" marL="0">
              <a:buNone/>
            </a:pPr>
            <a:r>
              <a:rPr lang="en-US" sz="2000" b="1" dirty="0">
                <a:solidFill>
                  <a:schemeClr val="accent2"/>
                </a:solidFill>
              </a:rPr>
              <a:t>O(1)</a:t>
            </a:r>
            <a:endParaRPr lang="en-US" sz="2000" dirty="0"/>
          </a:p>
        </p:txBody>
      </p:sp>
      <p:sp>
        <p:nvSpPr>
          <p:cNvPr id="20" name="text-102"/>
          <p:cNvSpPr txBox="1"/>
          <p:nvPr/>
        </p:nvSpPr>
        <p:spPr>
          <a:xfrm>
            <a:off x="685800" y="3429000"/>
            <a:ext cx="2194560" cy="640080"/>
          </a:xfrm>
          <a:prstGeom prst="rect">
            <a:avLst/>
          </a:prstGeom>
          <a:noFill/>
          <a:ln/>
        </p:spPr>
        <p:txBody>
          <a:bodyPr wrap="square" lIns="0" tIns="0" rIns="0" bIns="0" rtlCol="0" anchor="t"/>
          <a:lstStyle/>
          <a:p>
            <a:pPr indent="0" marL="0">
              <a:buNone/>
            </a:pPr>
            <a:r>
              <a:rPr lang="en-US" sz="1400" dirty="0">
                <a:solidFill>
                  <a:schemeClr val="tx2"/>
                </a:solidFill>
              </a:rPr>
              <a:t>Added at the tail in FIFO order.</a:t>
            </a:r>
            <a:endParaRPr lang="en-US" sz="1400" dirty="0"/>
          </a:p>
        </p:txBody>
      </p:sp>
      <p:sp>
        <p:nvSpPr>
          <p:cNvPr id="21" name="card-103"/>
          <p:cNvSpPr/>
          <p:nvPr/>
        </p:nvSpPr>
        <p:spPr>
          <a:xfrm>
            <a:off x="3291840" y="2834640"/>
            <a:ext cx="2560320" cy="1325880"/>
          </a:xfrm>
          <a:prstGeom prst="roundRect">
            <a:avLst>
              <a:gd name="adj" fmla="val 6897"/>
            </a:avLst>
          </a:prstGeom>
          <a:solidFill>
            <a:schemeClr val="bg2"/>
          </a:solidFill>
          <a:ln w="12700">
            <a:solidFill>
              <a:schemeClr val="bg2"/>
            </a:solidFill>
            <a:prstDash val="solid"/>
          </a:ln>
        </p:spPr>
      </p:sp>
      <p:sp>
        <p:nvSpPr>
          <p:cNvPr id="22" name="text-104"/>
          <p:cNvSpPr txBox="1"/>
          <p:nvPr/>
        </p:nvSpPr>
        <p:spPr>
          <a:xfrm>
            <a:off x="3520440" y="2971800"/>
            <a:ext cx="1554480" cy="274320"/>
          </a:xfrm>
          <a:prstGeom prst="rect">
            <a:avLst/>
          </a:prstGeom>
          <a:noFill/>
          <a:ln/>
        </p:spPr>
        <p:txBody>
          <a:bodyPr wrap="square" lIns="0" tIns="0" rIns="0" bIns="0" rtlCol="0" anchor="t"/>
          <a:lstStyle/>
          <a:p>
            <a:pPr indent="0" marL="0">
              <a:buNone/>
            </a:pPr>
            <a:r>
              <a:rPr lang="en-US" sz="1600" b="1" dirty="0">
                <a:solidFill>
                  <a:schemeClr val="tx1"/>
                </a:solidFill>
              </a:rPr>
              <a:t>Emergency flight</a:t>
            </a:r>
            <a:endParaRPr lang="en-US" sz="1600" dirty="0"/>
          </a:p>
        </p:txBody>
      </p:sp>
      <p:sp>
        <p:nvSpPr>
          <p:cNvPr id="23" name="text-105"/>
          <p:cNvSpPr txBox="1"/>
          <p:nvPr/>
        </p:nvSpPr>
        <p:spPr>
          <a:xfrm>
            <a:off x="4983480" y="2926080"/>
            <a:ext cx="731520" cy="365760"/>
          </a:xfrm>
          <a:prstGeom prst="rect">
            <a:avLst/>
          </a:prstGeom>
          <a:noFill/>
          <a:ln/>
        </p:spPr>
        <p:txBody>
          <a:bodyPr wrap="square" lIns="0" tIns="0" rIns="0" bIns="0" rtlCol="0" anchor="t"/>
          <a:lstStyle/>
          <a:p>
            <a:pPr algn="r" indent="0" marL="0">
              <a:buNone/>
            </a:pPr>
            <a:r>
              <a:rPr lang="en-US" sz="2000" b="1" dirty="0">
                <a:solidFill>
                  <a:schemeClr val="accent2"/>
                </a:solidFill>
              </a:rPr>
              <a:t>O(1)</a:t>
            </a:r>
            <a:endParaRPr lang="en-US" sz="2000" dirty="0"/>
          </a:p>
        </p:txBody>
      </p:sp>
      <p:sp>
        <p:nvSpPr>
          <p:cNvPr id="24" name="text-106"/>
          <p:cNvSpPr txBox="1"/>
          <p:nvPr/>
        </p:nvSpPr>
        <p:spPr>
          <a:xfrm>
            <a:off x="3520440" y="3429000"/>
            <a:ext cx="2194560" cy="640080"/>
          </a:xfrm>
          <a:prstGeom prst="rect">
            <a:avLst/>
          </a:prstGeom>
          <a:noFill/>
          <a:ln/>
        </p:spPr>
        <p:txBody>
          <a:bodyPr wrap="square" lIns="0" tIns="0" rIns="0" bIns="0" rtlCol="0" anchor="t"/>
          <a:lstStyle/>
          <a:p>
            <a:pPr indent="0" marL="0">
              <a:buNone/>
            </a:pPr>
            <a:r>
              <a:rPr lang="en-US" sz="1400" dirty="0">
                <a:solidFill>
                  <a:schemeClr val="tx2"/>
                </a:solidFill>
              </a:rPr>
              <a:t>Added at the head for instant preemption.</a:t>
            </a:r>
            <a:endParaRPr lang="en-US" sz="1400" dirty="0"/>
          </a:p>
        </p:txBody>
      </p:sp>
      <p:sp>
        <p:nvSpPr>
          <p:cNvPr id="25" name="card-107"/>
          <p:cNvSpPr/>
          <p:nvPr/>
        </p:nvSpPr>
        <p:spPr>
          <a:xfrm>
            <a:off x="6126480" y="2834640"/>
            <a:ext cx="2560320" cy="1325880"/>
          </a:xfrm>
          <a:prstGeom prst="roundRect">
            <a:avLst>
              <a:gd name="adj" fmla="val 6897"/>
            </a:avLst>
          </a:prstGeom>
          <a:solidFill>
            <a:schemeClr val="bg2"/>
          </a:solidFill>
          <a:ln w="12700">
            <a:solidFill>
              <a:schemeClr val="bg2"/>
            </a:solidFill>
            <a:prstDash val="solid"/>
          </a:ln>
        </p:spPr>
      </p:sp>
      <p:sp>
        <p:nvSpPr>
          <p:cNvPr id="26" name="text-108"/>
          <p:cNvSpPr txBox="1"/>
          <p:nvPr/>
        </p:nvSpPr>
        <p:spPr>
          <a:xfrm>
            <a:off x="6355080" y="2971800"/>
            <a:ext cx="1554480" cy="274320"/>
          </a:xfrm>
          <a:prstGeom prst="rect">
            <a:avLst/>
          </a:prstGeom>
          <a:noFill/>
          <a:ln/>
        </p:spPr>
        <p:txBody>
          <a:bodyPr wrap="square" lIns="0" tIns="0" rIns="0" bIns="0" rtlCol="0" anchor="t"/>
          <a:lstStyle/>
          <a:p>
            <a:pPr indent="0" marL="0">
              <a:buNone/>
            </a:pPr>
            <a:r>
              <a:rPr lang="en-US" sz="1600" b="1" dirty="0">
                <a:solidFill>
                  <a:schemeClr val="tx1"/>
                </a:solidFill>
              </a:rPr>
              <a:t>Clear runway</a:t>
            </a:r>
            <a:endParaRPr lang="en-US" sz="1600" dirty="0"/>
          </a:p>
        </p:txBody>
      </p:sp>
      <p:sp>
        <p:nvSpPr>
          <p:cNvPr id="27" name="text-109"/>
          <p:cNvSpPr txBox="1"/>
          <p:nvPr/>
        </p:nvSpPr>
        <p:spPr>
          <a:xfrm>
            <a:off x="7818120" y="2926080"/>
            <a:ext cx="731520" cy="365760"/>
          </a:xfrm>
          <a:prstGeom prst="rect">
            <a:avLst/>
          </a:prstGeom>
          <a:noFill/>
          <a:ln/>
        </p:spPr>
        <p:txBody>
          <a:bodyPr wrap="square" lIns="0" tIns="0" rIns="0" bIns="0" rtlCol="0" anchor="t"/>
          <a:lstStyle/>
          <a:p>
            <a:pPr algn="r" indent="0" marL="0">
              <a:buNone/>
            </a:pPr>
            <a:r>
              <a:rPr lang="en-US" sz="2000" b="1" dirty="0">
                <a:solidFill>
                  <a:schemeClr val="accent2"/>
                </a:solidFill>
              </a:rPr>
              <a:t>O(1)</a:t>
            </a:r>
            <a:endParaRPr lang="en-US" sz="2000" dirty="0"/>
          </a:p>
        </p:txBody>
      </p:sp>
      <p:sp>
        <p:nvSpPr>
          <p:cNvPr id="28" name="text-110"/>
          <p:cNvSpPr txBox="1"/>
          <p:nvPr/>
        </p:nvSpPr>
        <p:spPr>
          <a:xfrm>
            <a:off x="6355080" y="3429000"/>
            <a:ext cx="2194560" cy="640080"/>
          </a:xfrm>
          <a:prstGeom prst="rect">
            <a:avLst/>
          </a:prstGeom>
          <a:noFill/>
          <a:ln/>
        </p:spPr>
        <p:txBody>
          <a:bodyPr wrap="square" lIns="0" tIns="0" rIns="0" bIns="0" rtlCol="0" anchor="t"/>
          <a:lstStyle/>
          <a:p>
            <a:pPr indent="0" marL="0">
              <a:buNone/>
            </a:pPr>
            <a:r>
              <a:rPr lang="en-US" sz="1400" dirty="0">
                <a:solidFill>
                  <a:schemeClr val="tx2"/>
                </a:solidFill>
              </a:rPr>
              <a:t>Dequeued from the head.</a:t>
            </a:r>
            <a:endParaRPr lang="en-US" sz="1400" dirty="0"/>
          </a:p>
        </p:txBody>
      </p:sp>
      <p:sp>
        <p:nvSpPr>
          <p:cNvPr id="29" name="text-111"/>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400" dirty="0">
                <a:solidFill>
                  <a:schemeClr val="tx1"/>
                </a:solidFill>
              </a:rPr>
              <a:t>A singly linked list with front and rear pointers, built from scratch (no java.util.Queue).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Swing user interface</a:t>
            </a:r>
            <a:endParaRPr lang="en-US" sz="3400" dirty="0"/>
          </a:p>
        </p:txBody>
      </p:sp>
      <p:sp>
        <p:nvSpPr>
          <p:cNvPr id="3" name="window-112"/>
          <p:cNvSpPr/>
          <p:nvPr/>
        </p:nvSpPr>
        <p:spPr>
          <a:xfrm>
            <a:off x="457200" y="1280160"/>
            <a:ext cx="4754880" cy="3291840"/>
          </a:xfrm>
          <a:prstGeom prst="rect">
            <a:avLst/>
          </a:prstGeom>
          <a:solidFill>
            <a:schemeClr val="bg2"/>
          </a:solidFill>
          <a:ln w="19050">
            <a:solidFill>
              <a:schemeClr val="tx1"/>
            </a:solidFill>
            <a:prstDash val="solid"/>
          </a:ln>
        </p:spPr>
      </p:sp>
      <p:sp>
        <p:nvSpPr>
          <p:cNvPr id="4" name="titlebar-113"/>
          <p:cNvSpPr/>
          <p:nvPr/>
        </p:nvSpPr>
        <p:spPr>
          <a:xfrm>
            <a:off x="457200" y="1280160"/>
            <a:ext cx="4754880" cy="320040"/>
          </a:xfrm>
          <a:prstGeom prst="rect">
            <a:avLst/>
          </a:prstGeom>
          <a:solidFill>
            <a:schemeClr val="tx1"/>
          </a:solidFill>
          <a:ln w="12700">
            <a:solidFill>
              <a:schemeClr val="tx1"/>
            </a:solidFill>
            <a:prstDash val="solid"/>
          </a:ln>
        </p:spPr>
      </p:sp>
      <p:sp>
        <p:nvSpPr>
          <p:cNvPr id="5" name="text-114"/>
          <p:cNvSpPr txBox="1"/>
          <p:nvPr/>
        </p:nvSpPr>
        <p:spPr>
          <a:xfrm>
            <a:off x="594360" y="1280160"/>
            <a:ext cx="4114800" cy="320040"/>
          </a:xfrm>
          <a:prstGeom prst="rect">
            <a:avLst/>
          </a:prstGeom>
          <a:noFill/>
          <a:ln/>
        </p:spPr>
        <p:txBody>
          <a:bodyPr wrap="square" lIns="0" tIns="0" rIns="0" bIns="0" rtlCol="0" anchor="ctr"/>
          <a:lstStyle/>
          <a:p>
            <a:pPr indent="0" marL="0">
              <a:buNone/>
            </a:pPr>
            <a:r>
              <a:rPr lang="en-US" sz="1100" dirty="0">
                <a:solidFill>
                  <a:schemeClr val="bg1"/>
                </a:solidFill>
              </a:rPr>
              <a:t>Airport Runway Scheduler</a:t>
            </a:r>
            <a:endParaRPr lang="en-US" sz="1100" dirty="0"/>
          </a:p>
        </p:txBody>
      </p:sp>
      <p:sp>
        <p:nvSpPr>
          <p:cNvPr id="6" name="wire-115"/>
          <p:cNvSpPr/>
          <p:nvPr/>
        </p:nvSpPr>
        <p:spPr>
          <a:xfrm>
            <a:off x="640080" y="1737360"/>
            <a:ext cx="960120" cy="320040"/>
          </a:xfrm>
          <a:prstGeom prst="rect">
            <a:avLst/>
          </a:prstGeom>
          <a:solidFill>
            <a:schemeClr val="bg1"/>
          </a:solidFill>
          <a:ln w="9525">
            <a:solidFill>
              <a:schemeClr val="accent6"/>
            </a:solidFill>
            <a:prstDash val="solid"/>
          </a:ln>
        </p:spPr>
      </p:sp>
      <p:sp>
        <p:nvSpPr>
          <p:cNvPr id="7" name="text-116"/>
          <p:cNvSpPr txBox="1"/>
          <p:nvPr/>
        </p:nvSpPr>
        <p:spPr>
          <a:xfrm>
            <a:off x="640080" y="1737360"/>
            <a:ext cx="960120" cy="320040"/>
          </a:xfrm>
          <a:prstGeom prst="rect">
            <a:avLst/>
          </a:prstGeom>
          <a:noFill/>
          <a:ln/>
        </p:spPr>
        <p:txBody>
          <a:bodyPr wrap="square" lIns="0" tIns="0" rIns="0" bIns="0" rtlCol="0" anchor="ctr"/>
          <a:lstStyle/>
          <a:p>
            <a:pPr algn="ctr" indent="0" marL="0">
              <a:buNone/>
            </a:pPr>
            <a:r>
              <a:rPr lang="en-US" sz="1100" dirty="0">
                <a:solidFill>
                  <a:schemeClr val="accent6"/>
                </a:solidFill>
              </a:rPr>
              <a:t>Flight No</a:t>
            </a:r>
            <a:endParaRPr lang="en-US" sz="1100" dirty="0"/>
          </a:p>
        </p:txBody>
      </p:sp>
      <p:sp>
        <p:nvSpPr>
          <p:cNvPr id="8" name="wire-117"/>
          <p:cNvSpPr/>
          <p:nvPr/>
        </p:nvSpPr>
        <p:spPr>
          <a:xfrm>
            <a:off x="1691640" y="1737360"/>
            <a:ext cx="960120" cy="320040"/>
          </a:xfrm>
          <a:prstGeom prst="rect">
            <a:avLst/>
          </a:prstGeom>
          <a:solidFill>
            <a:schemeClr val="bg1"/>
          </a:solidFill>
          <a:ln w="9525">
            <a:solidFill>
              <a:schemeClr val="accent6"/>
            </a:solidFill>
            <a:prstDash val="solid"/>
          </a:ln>
        </p:spPr>
      </p:sp>
      <p:sp>
        <p:nvSpPr>
          <p:cNvPr id="9" name="text-118"/>
          <p:cNvSpPr txBox="1"/>
          <p:nvPr/>
        </p:nvSpPr>
        <p:spPr>
          <a:xfrm>
            <a:off x="1691640" y="1737360"/>
            <a:ext cx="960120" cy="320040"/>
          </a:xfrm>
          <a:prstGeom prst="rect">
            <a:avLst/>
          </a:prstGeom>
          <a:noFill/>
          <a:ln/>
        </p:spPr>
        <p:txBody>
          <a:bodyPr wrap="square" lIns="0" tIns="0" rIns="0" bIns="0" rtlCol="0" anchor="ctr"/>
          <a:lstStyle/>
          <a:p>
            <a:pPr algn="ctr" indent="0" marL="0">
              <a:buNone/>
            </a:pPr>
            <a:r>
              <a:rPr lang="en-US" sz="1100" dirty="0">
                <a:solidFill>
                  <a:schemeClr val="accent6"/>
                </a:solidFill>
              </a:rPr>
              <a:t>Airline</a:t>
            </a:r>
            <a:endParaRPr lang="en-US" sz="1100" dirty="0"/>
          </a:p>
        </p:txBody>
      </p:sp>
      <p:sp>
        <p:nvSpPr>
          <p:cNvPr id="10" name="wire-119"/>
          <p:cNvSpPr/>
          <p:nvPr/>
        </p:nvSpPr>
        <p:spPr>
          <a:xfrm>
            <a:off x="2743200" y="1737360"/>
            <a:ext cx="960120" cy="320040"/>
          </a:xfrm>
          <a:prstGeom prst="rect">
            <a:avLst/>
          </a:prstGeom>
          <a:solidFill>
            <a:schemeClr val="bg1"/>
          </a:solidFill>
          <a:ln w="9525">
            <a:solidFill>
              <a:schemeClr val="accent6"/>
            </a:solidFill>
            <a:prstDash val="solid"/>
          </a:ln>
        </p:spPr>
      </p:sp>
      <p:sp>
        <p:nvSpPr>
          <p:cNvPr id="11" name="text-120"/>
          <p:cNvSpPr txBox="1"/>
          <p:nvPr/>
        </p:nvSpPr>
        <p:spPr>
          <a:xfrm>
            <a:off x="2743200" y="1737360"/>
            <a:ext cx="960120" cy="320040"/>
          </a:xfrm>
          <a:prstGeom prst="rect">
            <a:avLst/>
          </a:prstGeom>
          <a:noFill/>
          <a:ln/>
        </p:spPr>
        <p:txBody>
          <a:bodyPr wrap="square" lIns="0" tIns="0" rIns="0" bIns="0" rtlCol="0" anchor="ctr"/>
          <a:lstStyle/>
          <a:p>
            <a:pPr algn="ctr" indent="0" marL="0">
              <a:buNone/>
            </a:pPr>
            <a:r>
              <a:rPr lang="en-US" sz="1100" dirty="0">
                <a:solidFill>
                  <a:schemeClr val="accent6"/>
                </a:solidFill>
              </a:rPr>
              <a:t>Operation</a:t>
            </a:r>
            <a:endParaRPr lang="en-US" sz="1100" dirty="0"/>
          </a:p>
        </p:txBody>
      </p:sp>
      <p:sp>
        <p:nvSpPr>
          <p:cNvPr id="12" name="wire-121"/>
          <p:cNvSpPr/>
          <p:nvPr/>
        </p:nvSpPr>
        <p:spPr>
          <a:xfrm>
            <a:off x="3794760" y="1737360"/>
            <a:ext cx="1234440" cy="320040"/>
          </a:xfrm>
          <a:prstGeom prst="rect">
            <a:avLst/>
          </a:prstGeom>
          <a:solidFill>
            <a:schemeClr val="bg1"/>
          </a:solidFill>
          <a:ln w="9525">
            <a:solidFill>
              <a:schemeClr val="accent6"/>
            </a:solidFill>
            <a:prstDash val="solid"/>
          </a:ln>
        </p:spPr>
      </p:sp>
      <p:sp>
        <p:nvSpPr>
          <p:cNvPr id="13" name="text-122"/>
          <p:cNvSpPr txBox="1"/>
          <p:nvPr/>
        </p:nvSpPr>
        <p:spPr>
          <a:xfrm>
            <a:off x="3794760" y="1737360"/>
            <a:ext cx="1234440" cy="320040"/>
          </a:xfrm>
          <a:prstGeom prst="rect">
            <a:avLst/>
          </a:prstGeom>
          <a:noFill/>
          <a:ln/>
        </p:spPr>
        <p:txBody>
          <a:bodyPr wrap="square" lIns="0" tIns="0" rIns="0" bIns="0" rtlCol="0" anchor="ctr"/>
          <a:lstStyle/>
          <a:p>
            <a:pPr algn="ctr" indent="0" marL="0">
              <a:buNone/>
            </a:pPr>
            <a:r>
              <a:rPr lang="en-US" sz="1100" dirty="0">
                <a:solidFill>
                  <a:schemeClr val="accent6"/>
                </a:solidFill>
              </a:rPr>
              <a:t>☐ Emergency</a:t>
            </a:r>
            <a:endParaRPr lang="en-US" sz="1100" dirty="0"/>
          </a:p>
        </p:txBody>
      </p:sp>
      <p:sp>
        <p:nvSpPr>
          <p:cNvPr id="14" name="wire-123"/>
          <p:cNvSpPr/>
          <p:nvPr/>
        </p:nvSpPr>
        <p:spPr>
          <a:xfrm>
            <a:off x="640080" y="2194560"/>
            <a:ext cx="1463040" cy="329184"/>
          </a:xfrm>
          <a:prstGeom prst="rect">
            <a:avLst/>
          </a:prstGeom>
          <a:solidFill>
            <a:schemeClr val="accent2"/>
          </a:solidFill>
          <a:ln w="9525">
            <a:solidFill>
              <a:schemeClr val="accent6"/>
            </a:solidFill>
            <a:prstDash val="solid"/>
          </a:ln>
        </p:spPr>
      </p:sp>
      <p:sp>
        <p:nvSpPr>
          <p:cNvPr id="15" name="text-124"/>
          <p:cNvSpPr txBox="1"/>
          <p:nvPr/>
        </p:nvSpPr>
        <p:spPr>
          <a:xfrm>
            <a:off x="640080" y="2194560"/>
            <a:ext cx="1463040" cy="329184"/>
          </a:xfrm>
          <a:prstGeom prst="rect">
            <a:avLst/>
          </a:prstGeom>
          <a:noFill/>
          <a:ln/>
        </p:spPr>
        <p:txBody>
          <a:bodyPr wrap="square" lIns="0" tIns="0" rIns="0" bIns="0" rtlCol="0" anchor="ctr"/>
          <a:lstStyle/>
          <a:p>
            <a:pPr algn="ctr" indent="0" marL="0">
              <a:buNone/>
            </a:pPr>
            <a:r>
              <a:rPr lang="en-US" sz="1100" dirty="0">
                <a:solidFill>
                  <a:schemeClr val="bg1"/>
                </a:solidFill>
              </a:rPr>
              <a:t>Add Flight</a:t>
            </a:r>
            <a:endParaRPr lang="en-US" sz="1100" dirty="0"/>
          </a:p>
        </p:txBody>
      </p:sp>
      <p:sp>
        <p:nvSpPr>
          <p:cNvPr id="16" name="wire-125"/>
          <p:cNvSpPr/>
          <p:nvPr/>
        </p:nvSpPr>
        <p:spPr>
          <a:xfrm>
            <a:off x="2194560" y="2194560"/>
            <a:ext cx="1463040" cy="329184"/>
          </a:xfrm>
          <a:prstGeom prst="rect">
            <a:avLst/>
          </a:prstGeom>
          <a:solidFill>
            <a:schemeClr val="accent1"/>
          </a:solidFill>
          <a:ln w="9525">
            <a:solidFill>
              <a:schemeClr val="accent6"/>
            </a:solidFill>
            <a:prstDash val="solid"/>
          </a:ln>
        </p:spPr>
      </p:sp>
      <p:sp>
        <p:nvSpPr>
          <p:cNvPr id="17" name="text-126"/>
          <p:cNvSpPr txBox="1"/>
          <p:nvPr/>
        </p:nvSpPr>
        <p:spPr>
          <a:xfrm>
            <a:off x="2194560" y="2194560"/>
            <a:ext cx="1463040" cy="329184"/>
          </a:xfrm>
          <a:prstGeom prst="rect">
            <a:avLst/>
          </a:prstGeom>
          <a:noFill/>
          <a:ln/>
        </p:spPr>
        <p:txBody>
          <a:bodyPr wrap="square" lIns="0" tIns="0" rIns="0" bIns="0" rtlCol="0" anchor="ctr"/>
          <a:lstStyle/>
          <a:p>
            <a:pPr algn="ctr" indent="0" marL="0">
              <a:buNone/>
            </a:pPr>
            <a:r>
              <a:rPr lang="en-US" sz="1100" dirty="0">
                <a:solidFill>
                  <a:schemeClr val="tx1"/>
                </a:solidFill>
              </a:rPr>
              <a:t>Clear Runway</a:t>
            </a:r>
            <a:endParaRPr lang="en-US" sz="1100" dirty="0"/>
          </a:p>
        </p:txBody>
      </p:sp>
      <p:sp>
        <p:nvSpPr>
          <p:cNvPr id="18" name="wire-127"/>
          <p:cNvSpPr/>
          <p:nvPr/>
        </p:nvSpPr>
        <p:spPr>
          <a:xfrm>
            <a:off x="640080" y="2651760"/>
            <a:ext cx="4389120" cy="868680"/>
          </a:xfrm>
          <a:prstGeom prst="rect">
            <a:avLst/>
          </a:prstGeom>
          <a:solidFill>
            <a:schemeClr val="bg1"/>
          </a:solidFill>
          <a:ln w="9525">
            <a:solidFill>
              <a:schemeClr val="accent6"/>
            </a:solidFill>
            <a:prstDash val="solid"/>
          </a:ln>
        </p:spPr>
      </p:sp>
      <p:sp>
        <p:nvSpPr>
          <p:cNvPr id="19" name="text-128"/>
          <p:cNvSpPr txBox="1"/>
          <p:nvPr/>
        </p:nvSpPr>
        <p:spPr>
          <a:xfrm>
            <a:off x="731520" y="2697480"/>
            <a:ext cx="1828800" cy="201168"/>
          </a:xfrm>
          <a:prstGeom prst="rect">
            <a:avLst/>
          </a:prstGeom>
          <a:noFill/>
          <a:ln/>
        </p:spPr>
        <p:txBody>
          <a:bodyPr wrap="square" lIns="0" tIns="0" rIns="0" bIns="0" rtlCol="0" anchor="t"/>
          <a:lstStyle/>
          <a:p>
            <a:pPr indent="0" marL="0">
              <a:buNone/>
            </a:pPr>
            <a:r>
              <a:rPr lang="en-US" sz="1000" b="1" dirty="0">
                <a:solidFill>
                  <a:schemeClr val="accent6"/>
                </a:solidFill>
              </a:rPr>
              <a:t>Runway Queue</a:t>
            </a:r>
            <a:endParaRPr lang="en-US" sz="1000" dirty="0"/>
          </a:p>
        </p:txBody>
      </p:sp>
      <p:sp>
        <p:nvSpPr>
          <p:cNvPr id="20" name="text-129"/>
          <p:cNvSpPr txBox="1"/>
          <p:nvPr/>
        </p:nvSpPr>
        <p:spPr>
          <a:xfrm>
            <a:off x="731520" y="2926080"/>
            <a:ext cx="4206240" cy="22860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[EMERGENCY] AI-101 (Air India)</a:t>
            </a:r>
            <a:endParaRPr lang="en-US" sz="1100" dirty="0"/>
          </a:p>
        </p:txBody>
      </p:sp>
      <p:sp>
        <p:nvSpPr>
          <p:cNvPr id="21" name="wire-130"/>
          <p:cNvSpPr/>
          <p:nvPr/>
        </p:nvSpPr>
        <p:spPr>
          <a:xfrm>
            <a:off x="640080" y="3611880"/>
            <a:ext cx="4389120" cy="822960"/>
          </a:xfrm>
          <a:prstGeom prst="rect">
            <a:avLst/>
          </a:prstGeom>
          <a:solidFill>
            <a:schemeClr val="bg1"/>
          </a:solidFill>
          <a:ln w="9525">
            <a:solidFill>
              <a:schemeClr val="accent6"/>
            </a:solidFill>
            <a:prstDash val="solid"/>
          </a:ln>
        </p:spPr>
      </p:sp>
      <p:sp>
        <p:nvSpPr>
          <p:cNvPr id="22" name="text-131"/>
          <p:cNvSpPr txBox="1"/>
          <p:nvPr/>
        </p:nvSpPr>
        <p:spPr>
          <a:xfrm>
            <a:off x="731520" y="3657600"/>
            <a:ext cx="1828800" cy="201168"/>
          </a:xfrm>
          <a:prstGeom prst="rect">
            <a:avLst/>
          </a:prstGeom>
          <a:noFill/>
          <a:ln/>
        </p:spPr>
        <p:txBody>
          <a:bodyPr wrap="square" lIns="0" tIns="0" rIns="0" bIns="0" rtlCol="0" anchor="t"/>
          <a:lstStyle/>
          <a:p>
            <a:pPr indent="0" marL="0">
              <a:buNone/>
            </a:pPr>
            <a:r>
              <a:rPr lang="en-US" sz="1000" b="1" dirty="0">
                <a:solidFill>
                  <a:schemeClr val="accent6"/>
                </a:solidFill>
              </a:rPr>
              <a:t>Activity Log</a:t>
            </a:r>
            <a:endParaRPr lang="en-US" sz="1000" dirty="0"/>
          </a:p>
        </p:txBody>
      </p:sp>
      <p:sp>
        <p:nvSpPr>
          <p:cNvPr id="23" name="text-132"/>
          <p:cNvSpPr txBox="1"/>
          <p:nvPr/>
        </p:nvSpPr>
        <p:spPr>
          <a:xfrm>
            <a:off x="731520" y="3886200"/>
            <a:ext cx="4206240" cy="22860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every action is logged here</a:t>
            </a:r>
            <a:endParaRPr lang="en-US" sz="1100" dirty="0"/>
          </a:p>
        </p:txBody>
      </p:sp>
      <p:sp>
        <p:nvSpPr>
          <p:cNvPr id="24" name="text-133"/>
          <p:cNvSpPr txBox="1"/>
          <p:nvPr/>
        </p:nvSpPr>
        <p:spPr>
          <a:xfrm>
            <a:off x="5577840" y="1371600"/>
            <a:ext cx="3108960" cy="3108960"/>
          </a:xfrm>
          <a:prstGeom prst="rect">
            <a:avLst/>
          </a:prstGeom>
          <a:noFill/>
          <a:ln/>
        </p:spPr>
        <p:txBody>
          <a:bodyPr wrap="square" lIns="0" tIns="0" rIns="0" bIns="0" rtlCol="0" anchor="t"/>
          <a:lstStyle/>
          <a:p>
            <a:pPr indent="0" marL="0">
              <a:buNone/>
            </a:pPr>
            <a:r>
              <a:rPr lang="en-US" sz="1600" b="1" dirty="0">
                <a:solidFill>
                  <a:schemeClr val="tx1"/>
                </a:solidFill>
              </a:rPr>
              <a:t>Pure Java Swing</a:t>
            </a:r>
            <a:endParaRPr lang="en-US" sz="1400" dirty="0"/>
          </a:p>
          <a:p>
            <a:pPr indent="0" marL="0">
              <a:spcAft>
                <a:spcPts val="1200"/>
              </a:spcAft>
              <a:buNone/>
            </a:pPr>
            <a:r>
              <a:rPr lang="en-US" sz="1400" dirty="0">
                <a:solidFill>
                  <a:schemeClr val="tx2"/>
                </a:solidFill>
              </a:rPr>
              <a:t>JFrame with null layout and setBounds(), like the class calculator.</a:t>
            </a:r>
            <a:endParaRPr lang="en-US" sz="1400" dirty="0"/>
          </a:p>
          <a:p>
            <a:pPr indent="0" marL="0">
              <a:buNone/>
            </a:pPr>
            <a:r>
              <a:rPr lang="en-US" sz="1600" b="1" dirty="0">
                <a:solidFill>
                  <a:schemeClr val="tx1"/>
                </a:solidFill>
              </a:rPr>
              <a:t>Wired to the queue</a:t>
            </a:r>
            <a:endParaRPr lang="en-US" sz="1400" dirty="0"/>
          </a:p>
          <a:p>
            <a:pPr indent="0" marL="0">
              <a:spcAft>
                <a:spcPts val="1200"/>
              </a:spcAft>
              <a:buNone/>
            </a:pPr>
            <a:r>
              <a:rPr lang="en-US" sz="1400" dirty="0">
                <a:solidFill>
                  <a:schemeClr val="tx2"/>
                </a:solidFill>
              </a:rPr>
              <a:t>The form feeds FlightQueue. Clear Runway calls dequeue() and refreshes the display.</a:t>
            </a:r>
            <a:endParaRPr lang="en-US" sz="1400" dirty="0"/>
          </a:p>
          <a:p>
            <a:pPr indent="0" marL="0">
              <a:buNone/>
            </a:pPr>
            <a:r>
              <a:rPr lang="en-US" sz="1600" b="1" dirty="0">
                <a:solidFill>
                  <a:schemeClr val="tx1"/>
                </a:solidFill>
              </a:rPr>
              <a:t>Two live panels</a:t>
            </a:r>
            <a:endParaRPr lang="en-US" sz="1400" dirty="0"/>
          </a:p>
          <a:p>
            <a:pPr indent="0" marL="0">
              <a:spcAft>
                <a:spcPts val="1200"/>
              </a:spcAft>
              <a:buNone/>
            </a:pPr>
            <a:r>
              <a:rPr lang="en-US" sz="1400" dirty="0">
                <a:solidFill>
                  <a:schemeClr val="tx2"/>
                </a:solidFill>
              </a:rPr>
              <a:t>Runway queue on top, activity log below.</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File handling and testing</a:t>
            </a:r>
            <a:endParaRPr lang="en-US" sz="3400" dirty="0"/>
          </a:p>
        </p:txBody>
      </p:sp>
      <p:sp>
        <p:nvSpPr>
          <p:cNvPr id="3" name="card-134"/>
          <p:cNvSpPr/>
          <p:nvPr/>
        </p:nvSpPr>
        <p:spPr>
          <a:xfrm>
            <a:off x="457200" y="1371600"/>
            <a:ext cx="4023360" cy="3108960"/>
          </a:xfrm>
          <a:prstGeom prst="roundRect">
            <a:avLst>
              <a:gd name="adj" fmla="val 2941"/>
            </a:avLst>
          </a:prstGeom>
          <a:solidFill>
            <a:schemeClr val="bg2"/>
          </a:solidFill>
          <a:ln w="12700">
            <a:solidFill>
              <a:schemeClr val="bg2"/>
            </a:solidFill>
            <a:prstDash val="solid"/>
          </a:ln>
        </p:spPr>
      </p:sp>
      <p:sp>
        <p:nvSpPr>
          <p:cNvPr id="4" name="icon-bg-135"/>
          <p:cNvSpPr/>
          <p:nvPr/>
        </p:nvSpPr>
        <p:spPr>
          <a:xfrm>
            <a:off x="731520" y="1600200"/>
            <a:ext cx="594360" cy="594360"/>
          </a:xfrm>
          <a:prstGeom prst="ellipse">
            <a:avLst/>
          </a:prstGeom>
          <a:solidFill>
            <a:schemeClr val="accent3"/>
          </a:solidFill>
          <a:ln w="12700">
            <a:solidFill>
              <a:schemeClr val="accent3"/>
            </a:solidFill>
            <a:prstDash val="solid"/>
          </a:ln>
        </p:spPr>
      </p:sp>
      <p:pic>
        <p:nvPicPr>
          <p:cNvPr id="5" name="icon-136" descr="icon">    </p:cNvPr>
          <p:cNvPicPr>
            <a:picLocks noChangeAspect="1"/>
          </p:cNvPicPr>
          <p:nvPr/>
        </p:nvPicPr>
        <p:blipFill>
          <a:blip r:embed="rId1"/>
          <a:stretch>
            <a:fillRect/>
          </a:stretch>
        </p:blipFill>
        <p:spPr>
          <a:xfrm>
            <a:off x="880110" y="1748790"/>
            <a:ext cx="297180" cy="297180"/>
          </a:xfrm>
          <a:prstGeom prst="rect">
            <a:avLst/>
          </a:prstGeom>
        </p:spPr>
      </p:pic>
      <p:sp>
        <p:nvSpPr>
          <p:cNvPr id="6" name="text-137"/>
          <p:cNvSpPr txBox="1"/>
          <p:nvPr/>
        </p:nvSpPr>
        <p:spPr>
          <a:xfrm>
            <a:off x="1508760" y="1600200"/>
            <a:ext cx="2834640" cy="594360"/>
          </a:xfrm>
          <a:prstGeom prst="rect">
            <a:avLst/>
          </a:prstGeom>
          <a:noFill/>
          <a:ln/>
        </p:spPr>
        <p:txBody>
          <a:bodyPr wrap="square" lIns="0" tIns="0" rIns="0" bIns="0" rtlCol="0" anchor="ctr"/>
          <a:lstStyle/>
          <a:p>
            <a:pPr indent="0" marL="0">
              <a:buNone/>
            </a:pPr>
            <a:r>
              <a:rPr lang="en-US" sz="2000" b="1" dirty="0">
                <a:solidFill>
                  <a:schemeClr val="tx1"/>
                </a:solidFill>
              </a:rPr>
              <a:t>FileHandler.java</a:t>
            </a:r>
            <a:endParaRPr lang="en-US" sz="2000" dirty="0"/>
          </a:p>
        </p:txBody>
      </p:sp>
      <p:sp>
        <p:nvSpPr>
          <p:cNvPr id="7" name="text-138"/>
          <p:cNvSpPr txBox="1"/>
          <p:nvPr/>
        </p:nvSpPr>
        <p:spPr>
          <a:xfrm>
            <a:off x="731520" y="2423160"/>
            <a:ext cx="3474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Uses FileWriter in append mode</a:t>
            </a:r>
            <a:endParaRPr lang="en-US" sz="1400" dirty="0"/>
          </a:p>
          <a:p>
            <a:pPr marL="342900" indent="-342900">
              <a:spcAft>
                <a:spcPts val="600"/>
              </a:spcAft>
              <a:buSzPct val="100000"/>
              <a:buChar char="•"/>
            </a:pPr>
            <a:r>
              <a:rPr lang="en-US" sz="1400" dirty="0">
                <a:solidFill>
                  <a:schemeClr val="tx2"/>
                </a:solidFill>
              </a:rPr>
              <a:t>Completed runway events are saved permanently</a:t>
            </a:r>
            <a:endParaRPr lang="en-US" sz="1400" dirty="0"/>
          </a:p>
          <a:p>
            <a:pPr marL="342900" indent="-342900">
              <a:spcAft>
                <a:spcPts val="600"/>
              </a:spcAft>
              <a:buSzPct val="100000"/>
              <a:buChar char="•"/>
            </a:pPr>
            <a:r>
              <a:rPr lang="en-US" sz="1400" dirty="0">
                <a:solidFill>
                  <a:schemeClr val="tx2"/>
                </a:solidFill>
              </a:rPr>
              <a:t>Past history is never overwritten</a:t>
            </a:r>
            <a:endParaRPr lang="en-US" sz="1400" dirty="0"/>
          </a:p>
        </p:txBody>
      </p:sp>
      <p:sp>
        <p:nvSpPr>
          <p:cNvPr id="8" name="card-139"/>
          <p:cNvSpPr/>
          <p:nvPr/>
        </p:nvSpPr>
        <p:spPr>
          <a:xfrm>
            <a:off x="731520" y="3749040"/>
            <a:ext cx="3474720" cy="457200"/>
          </a:xfrm>
          <a:prstGeom prst="roundRect">
            <a:avLst>
              <a:gd name="adj" fmla="val 20000"/>
            </a:avLst>
          </a:prstGeom>
          <a:solidFill>
            <a:schemeClr val="tx1"/>
          </a:solidFill>
          <a:ln w="12700">
            <a:solidFill>
              <a:schemeClr val="tx1"/>
            </a:solidFill>
            <a:prstDash val="solid"/>
          </a:ln>
        </p:spPr>
      </p:sp>
      <p:sp>
        <p:nvSpPr>
          <p:cNvPr id="9" name="text-140"/>
          <p:cNvSpPr txBox="1"/>
          <p:nvPr/>
        </p:nvSpPr>
        <p:spPr>
          <a:xfrm>
            <a:off x="731520" y="3749040"/>
            <a:ext cx="3474720" cy="457200"/>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new FileWriter("runway_log.txt", true)</a:t>
            </a:r>
            <a:endParaRPr lang="en-US" sz="1100" dirty="0"/>
          </a:p>
        </p:txBody>
      </p:sp>
      <p:sp>
        <p:nvSpPr>
          <p:cNvPr id="10" name="card-141"/>
          <p:cNvSpPr/>
          <p:nvPr/>
        </p:nvSpPr>
        <p:spPr>
          <a:xfrm>
            <a:off x="4663440" y="1371600"/>
            <a:ext cx="4023360" cy="3108960"/>
          </a:xfrm>
          <a:prstGeom prst="roundRect">
            <a:avLst>
              <a:gd name="adj" fmla="val 2941"/>
            </a:avLst>
          </a:prstGeom>
          <a:solidFill>
            <a:schemeClr val="bg2"/>
          </a:solidFill>
          <a:ln w="12700">
            <a:solidFill>
              <a:schemeClr val="bg2"/>
            </a:solidFill>
            <a:prstDash val="solid"/>
          </a:ln>
        </p:spPr>
      </p:sp>
      <p:sp>
        <p:nvSpPr>
          <p:cNvPr id="11" name="icon-bg-142"/>
          <p:cNvSpPr/>
          <p:nvPr/>
        </p:nvSpPr>
        <p:spPr>
          <a:xfrm>
            <a:off x="4937760" y="1600200"/>
            <a:ext cx="594360" cy="594360"/>
          </a:xfrm>
          <a:prstGeom prst="ellipse">
            <a:avLst/>
          </a:prstGeom>
          <a:solidFill>
            <a:schemeClr val="accent5"/>
          </a:solidFill>
          <a:ln w="12700">
            <a:solidFill>
              <a:schemeClr val="accent5"/>
            </a:solidFill>
            <a:prstDash val="solid"/>
          </a:ln>
        </p:spPr>
      </p:sp>
      <p:pic>
        <p:nvPicPr>
          <p:cNvPr id="12" name="icon-143" descr="icon">    </p:cNvPr>
          <p:cNvPicPr>
            <a:picLocks noChangeAspect="1"/>
          </p:cNvPicPr>
          <p:nvPr/>
        </p:nvPicPr>
        <p:blipFill>
          <a:blip r:embed="rId2"/>
          <a:stretch>
            <a:fillRect/>
          </a:stretch>
        </p:blipFill>
        <p:spPr>
          <a:xfrm>
            <a:off x="5086350" y="1748790"/>
            <a:ext cx="297180" cy="297180"/>
          </a:xfrm>
          <a:prstGeom prst="rect">
            <a:avLst/>
          </a:prstGeom>
        </p:spPr>
      </p:pic>
      <p:sp>
        <p:nvSpPr>
          <p:cNvPr id="13" name="text-144"/>
          <p:cNvSpPr txBox="1"/>
          <p:nvPr/>
        </p:nvSpPr>
        <p:spPr>
          <a:xfrm>
            <a:off x="5715000" y="1600200"/>
            <a:ext cx="2834640" cy="594360"/>
          </a:xfrm>
          <a:prstGeom prst="rect">
            <a:avLst/>
          </a:prstGeom>
          <a:noFill/>
          <a:ln/>
        </p:spPr>
        <p:txBody>
          <a:bodyPr wrap="square" lIns="0" tIns="0" rIns="0" bIns="0" rtlCol="0" anchor="ctr"/>
          <a:lstStyle/>
          <a:p>
            <a:pPr indent="0" marL="0">
              <a:buNone/>
            </a:pPr>
            <a:r>
              <a:rPr lang="en-US" sz="2000" b="1" dirty="0">
                <a:solidFill>
                  <a:schemeClr val="tx1"/>
                </a:solidFill>
              </a:rPr>
              <a:t>TestRunway.java</a:t>
            </a:r>
            <a:endParaRPr lang="en-US" sz="2000" dirty="0"/>
          </a:p>
        </p:txBody>
      </p:sp>
      <p:sp>
        <p:nvSpPr>
          <p:cNvPr id="14" name="text-145"/>
          <p:cNvSpPr txBox="1"/>
          <p:nvPr/>
        </p:nvSpPr>
        <p:spPr>
          <a:xfrm>
            <a:off x="4937760" y="2423160"/>
            <a:ext cx="3474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Headless: runs without opening the GUI</a:t>
            </a:r>
            <a:endParaRPr lang="en-US" sz="1400" dirty="0"/>
          </a:p>
          <a:p>
            <a:pPr marL="342900" indent="-342900">
              <a:spcAft>
                <a:spcPts val="600"/>
              </a:spcAft>
              <a:buSzPct val="100000"/>
              <a:buChar char="•"/>
            </a:pPr>
            <a:r>
              <a:rPr lang="en-US" sz="1400" dirty="0">
                <a:solidFill>
                  <a:schemeClr val="tx2"/>
                </a:solidFill>
              </a:rPr>
              <a:t>Checks emergency flights bypass waiting flights</a:t>
            </a:r>
            <a:endParaRPr lang="en-US" sz="1400" dirty="0"/>
          </a:p>
          <a:p>
            <a:pPr marL="342900" indent="-342900">
              <a:spcAft>
                <a:spcPts val="600"/>
              </a:spcAft>
              <a:buSzPct val="100000"/>
              <a:buChar char="•"/>
            </a:pPr>
            <a:r>
              <a:rPr lang="en-US" sz="1400" dirty="0">
                <a:solidFill>
                  <a:schemeClr val="tx2"/>
                </a:solidFill>
              </a:rPr>
              <a:t>Checks empty queues are handled gracefully</a:t>
            </a:r>
            <a:endParaRPr lang="en-US" sz="1400" dirty="0"/>
          </a:p>
        </p:txBody>
      </p:sp>
      <p:sp>
        <p:nvSpPr>
          <p:cNvPr id="15" name="card-146"/>
          <p:cNvSpPr/>
          <p:nvPr/>
        </p:nvSpPr>
        <p:spPr>
          <a:xfrm>
            <a:off x="4937760" y="3749040"/>
            <a:ext cx="3474720" cy="457200"/>
          </a:xfrm>
          <a:prstGeom prst="roundRect">
            <a:avLst>
              <a:gd name="adj" fmla="val 20000"/>
            </a:avLst>
          </a:prstGeom>
          <a:solidFill>
            <a:schemeClr val="tx1"/>
          </a:solidFill>
          <a:ln w="12700">
            <a:solidFill>
              <a:schemeClr val="tx1"/>
            </a:solidFill>
            <a:prstDash val="solid"/>
          </a:ln>
        </p:spPr>
      </p:sp>
      <p:sp>
        <p:nvSpPr>
          <p:cNvPr id="16" name="text-147"/>
          <p:cNvSpPr txBox="1"/>
          <p:nvPr/>
        </p:nvSpPr>
        <p:spPr>
          <a:xfrm>
            <a:off x="4937760" y="3749040"/>
            <a:ext cx="3474720" cy="457200"/>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tests: preemption + queue underflow</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Time complexity</a:t>
            </a:r>
            <a:endParaRPr lang="en-US" sz="3400" dirty="0"/>
          </a:p>
        </p:txBody>
      </p:sp>
      <p:graphicFrame>
        <p:nvGraphicFramePr>
          <p:cNvPr id="10" name="table-148"/>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926080"/>
                <a:gridCol w="3931920"/>
                <a:gridCol w="1371600"/>
              </a:tblGrid>
              <a:tr h="502920">
                <a:tc>
                  <a:txBody>
                    <a:bodyPr/>
                    <a:lstStyle/>
                    <a:p>
                      <a:pPr indent="0" marL="0">
                        <a:buNone/>
                      </a:pPr>
                      <a:r>
                        <a:rPr lang="en-US" sz="1400" b="1" dirty="0">
                          <a:solidFill>
                            <a:schemeClr val="bg1"/>
                          </a:solidFill>
                        </a:rPr>
                        <a:t>Operation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How it works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Time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r>
              <a:tr h="502920">
                <a:tc>
                  <a:txBody>
                    <a:bodyPr/>
                    <a:lstStyle/>
                    <a:p>
                      <a:pPr indent="0" marL="0">
                        <a:buNone/>
                      </a:pPr>
                      <a:r>
                        <a:rPr lang="en-US" sz="1400" dirty="0">
                          <a:solidFill>
                            <a:schemeClr val="tx1"/>
                          </a:solidFill>
                        </a:rPr>
                        <a:t>Enqueue normal flight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Insert after the rear pointer</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O(1)</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400" dirty="0">
                          <a:solidFill>
                            <a:schemeClr val="tx1"/>
                          </a:solidFill>
                        </a:rPr>
                        <a:t>Enqueue emergency flight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Insert before the front pointer</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2"/>
                          </a:solidFill>
                        </a:rPr>
                        <a:t>O(1)</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400" dirty="0">
                          <a:solidFill>
                            <a:schemeClr val="tx1"/>
                          </a:solidFill>
                        </a:rPr>
                        <a:t>Dequeue (clear runway)</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Remove from the front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O(1)</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card-149"/>
          <p:cNvSpPr/>
          <p:nvPr/>
        </p:nvSpPr>
        <p:spPr>
          <a:xfrm>
            <a:off x="457200" y="3611880"/>
            <a:ext cx="8229600" cy="822960"/>
          </a:xfrm>
          <a:prstGeom prst="roundRect">
            <a:avLst>
              <a:gd name="adj" fmla="val 11111"/>
            </a:avLst>
          </a:prstGeom>
          <a:solidFill>
            <a:schemeClr val="tx1"/>
          </a:solidFill>
          <a:ln w="12700">
            <a:solidFill>
              <a:schemeClr val="tx1"/>
            </a:solidFill>
            <a:prstDash val="solid"/>
          </a:ln>
        </p:spPr>
      </p:sp>
      <p:sp>
        <p:nvSpPr>
          <p:cNvPr id="5" name="text-150"/>
          <p:cNvSpPr txBox="1"/>
          <p:nvPr/>
        </p:nvSpPr>
        <p:spPr>
          <a:xfrm>
            <a:off x="731520" y="3611880"/>
            <a:ext cx="7680960" cy="822960"/>
          </a:xfrm>
          <a:prstGeom prst="rect">
            <a:avLst/>
          </a:prstGeom>
          <a:noFill/>
          <a:ln/>
        </p:spPr>
        <p:txBody>
          <a:bodyPr wrap="square" lIns="0" tIns="0" rIns="0" bIns="0" rtlCol="0" anchor="ctr"/>
          <a:lstStyle/>
          <a:p>
            <a:pPr indent="0" marL="0">
              <a:buNone/>
            </a:pPr>
            <a:r>
              <a:rPr lang="en-US" sz="1800" dirty="0">
                <a:solidFill>
                  <a:schemeClr val="bg1"/>
                </a:solidFill>
              </a:rPr>
              <a:t>All operations run in constant time, with no array resizing and no element shifting.</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Project structure</a:t>
            </a:r>
            <a:endParaRPr lang="en-US" sz="3400" dirty="0"/>
          </a:p>
        </p:txBody>
      </p:sp>
      <p:sp>
        <p:nvSpPr>
          <p:cNvPr id="3" name="card-151"/>
          <p:cNvSpPr/>
          <p:nvPr/>
        </p:nvSpPr>
        <p:spPr>
          <a:xfrm>
            <a:off x="457200" y="1280160"/>
            <a:ext cx="5577840" cy="3291840"/>
          </a:xfrm>
          <a:prstGeom prst="roundRect">
            <a:avLst>
              <a:gd name="adj" fmla="val 2778"/>
            </a:avLst>
          </a:prstGeom>
          <a:solidFill>
            <a:schemeClr val="tx1"/>
          </a:solidFill>
          <a:ln w="12700">
            <a:solidFill>
              <a:schemeClr val="tx1"/>
            </a:solidFill>
            <a:prstDash val="solid"/>
          </a:ln>
        </p:spPr>
      </p:sp>
      <p:sp>
        <p:nvSpPr>
          <p:cNvPr id="4" name="text-152"/>
          <p:cNvSpPr txBox="1"/>
          <p:nvPr/>
        </p:nvSpPr>
        <p:spPr>
          <a:xfrm>
            <a:off x="685800" y="1463040"/>
            <a:ext cx="5212080" cy="292608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airport-runway-scheduler/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Aircraft.java       # [Justin]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Node.java           # [Elna]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FlightQueue.java    # [Elna]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RunwayUI.java       # [Sruthika]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FileHandler.java    # [Devika]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TestRunway.java     # [Devika]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run.sh              # launch script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runway_log.txt      # activity log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VIVA_GUIDE.md       # viva Q&amp;A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README.md           # documentation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screenshot.png      # UI screenshot</a:t>
            </a:r>
            <a:endParaRPr lang="en-US" sz="1200" dirty="0"/>
          </a:p>
        </p:txBody>
      </p:sp>
      <p:sp>
        <p:nvSpPr>
          <p:cNvPr id="5" name="text-153"/>
          <p:cNvSpPr txBox="1"/>
          <p:nvPr/>
        </p:nvSpPr>
        <p:spPr>
          <a:xfrm>
            <a:off x="6355080" y="1371600"/>
            <a:ext cx="2331720" cy="3108960"/>
          </a:xfrm>
          <a:prstGeom prst="rect">
            <a:avLst/>
          </a:prstGeom>
          <a:noFill/>
          <a:ln/>
        </p:spPr>
        <p:txBody>
          <a:bodyPr wrap="square" lIns="0" tIns="0" rIns="0" bIns="0" rtlCol="0" anchor="t"/>
          <a:lstStyle/>
          <a:p>
            <a:pPr indent="0" marL="0">
              <a:buNone/>
            </a:pPr>
            <a:r>
              <a:rPr lang="en-US" sz="1600" b="1" dirty="0">
                <a:solidFill>
                  <a:schemeClr val="tx1"/>
                </a:solidFill>
              </a:rPr>
              <a:t>run.sh</a:t>
            </a:r>
            <a:endParaRPr lang="en-US" sz="1400" dirty="0"/>
          </a:p>
          <a:p>
            <a:pPr indent="0" marL="0">
              <a:spcAft>
                <a:spcPts val="1200"/>
              </a:spcAft>
              <a:buNone/>
            </a:pPr>
            <a:r>
              <a:rPr lang="en-US" sz="1400" dirty="0">
                <a:solidFill>
                  <a:schemeClr val="tx2"/>
                </a:solidFill>
              </a:rPr>
              <a:t>One-click launch</a:t>
            </a:r>
            <a:endParaRPr lang="en-US" sz="1400" dirty="0"/>
          </a:p>
          <a:p>
            <a:pPr indent="0" marL="0">
              <a:buNone/>
            </a:pPr>
            <a:r>
              <a:rPr lang="en-US" sz="1600" b="1" dirty="0">
                <a:solidFill>
                  <a:schemeClr val="tx1"/>
                </a:solidFill>
              </a:rPr>
              <a:t>VIVA_GUIDE.md</a:t>
            </a:r>
            <a:endParaRPr lang="en-US" sz="1400" dirty="0"/>
          </a:p>
          <a:p>
            <a:pPr indent="0" marL="0">
              <a:spcAft>
                <a:spcPts val="1200"/>
              </a:spcAft>
              <a:buNone/>
            </a:pPr>
            <a:r>
              <a:rPr lang="en-US" sz="1400" dirty="0">
                <a:solidFill>
                  <a:schemeClr val="tx2"/>
                </a:solidFill>
              </a:rPr>
              <a:t>Q&amp;A for all 4 members</a:t>
            </a:r>
            <a:endParaRPr lang="en-US" sz="1400" dirty="0"/>
          </a:p>
          <a:p>
            <a:pPr indent="0" marL="0">
              <a:buNone/>
            </a:pPr>
            <a:r>
              <a:rPr lang="en-US" sz="1600" b="1" dirty="0">
                <a:solidFill>
                  <a:schemeClr val="tx1"/>
                </a:solidFill>
              </a:rPr>
              <a:t>README.md</a:t>
            </a:r>
            <a:endParaRPr lang="en-US" sz="1400" dirty="0"/>
          </a:p>
          <a:p>
            <a:pPr indent="0" marL="0">
              <a:spcAft>
                <a:spcPts val="1200"/>
              </a:spcAft>
              <a:buNone/>
            </a:pPr>
            <a:r>
              <a:rPr lang="en-US" sz="1400" dirty="0">
                <a:solidFill>
                  <a:schemeClr val="tx2"/>
                </a:solidFill>
              </a:rPr>
              <a:t>GitHub docs with diagrams</a:t>
            </a:r>
            <a:endParaRPr lang="en-US" sz="1400" dirty="0"/>
          </a:p>
          <a:p>
            <a:pPr indent="0" marL="0">
              <a:buNone/>
            </a:pPr>
            <a:r>
              <a:rPr lang="en-US" sz="1200" b="1" dirty="0">
                <a:solidFill>
                  <a:schemeClr val="accent2"/>
                </a:solidFill>
              </a:rPr>
              <a:t>github.com/jvstin47/airport-runway-scheduler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What we built</a:t>
            </a:r>
            <a:endParaRPr lang="en-US" sz="3400" dirty="0"/>
          </a:p>
        </p:txBody>
      </p:sp>
      <p:sp>
        <p:nvSpPr>
          <p:cNvPr id="3" name="icon-bg-154"/>
          <p:cNvSpPr/>
          <p:nvPr/>
        </p:nvSpPr>
        <p:spPr>
          <a:xfrm>
            <a:off x="457200" y="1417320"/>
            <a:ext cx="731520" cy="731520"/>
          </a:xfrm>
          <a:prstGeom prst="ellipse">
            <a:avLst/>
          </a:prstGeom>
          <a:solidFill>
            <a:schemeClr val="accent1"/>
          </a:solidFill>
          <a:ln w="12700">
            <a:solidFill>
              <a:schemeClr val="accent1"/>
            </a:solidFill>
            <a:prstDash val="solid"/>
          </a:ln>
        </p:spPr>
      </p:sp>
      <p:pic>
        <p:nvPicPr>
          <p:cNvPr id="4" name="icon-155" descr="icon">    </p:cNvPr>
          <p:cNvPicPr>
            <a:picLocks noChangeAspect="1"/>
          </p:cNvPicPr>
          <p:nvPr/>
        </p:nvPicPr>
        <p:blipFill>
          <a:blip r:embed="rId1"/>
          <a:stretch>
            <a:fillRect/>
          </a:stretch>
        </p:blipFill>
        <p:spPr>
          <a:xfrm>
            <a:off x="640080" y="1600200"/>
            <a:ext cx="365760" cy="365760"/>
          </a:xfrm>
          <a:prstGeom prst="rect">
            <a:avLst/>
          </a:prstGeom>
        </p:spPr>
      </p:pic>
      <p:sp>
        <p:nvSpPr>
          <p:cNvPr id="5" name="text-156"/>
          <p:cNvSpPr txBox="1"/>
          <p:nvPr/>
        </p:nvSpPr>
        <p:spPr>
          <a:xfrm>
            <a:off x="457200" y="2331720"/>
            <a:ext cx="2560320" cy="365760"/>
          </a:xfrm>
          <a:prstGeom prst="rect">
            <a:avLst/>
          </a:prstGeom>
          <a:noFill/>
          <a:ln/>
        </p:spPr>
        <p:txBody>
          <a:bodyPr wrap="square" lIns="0" tIns="0" rIns="0" bIns="0" rtlCol="0" anchor="t"/>
          <a:lstStyle/>
          <a:p>
            <a:pPr indent="0" marL="0">
              <a:buNone/>
            </a:pPr>
            <a:r>
              <a:rPr lang="en-US" sz="1800" b="1" dirty="0">
                <a:solidFill>
                  <a:schemeClr val="bg1"/>
                </a:solidFill>
              </a:rPr>
              <a:t>Fair FIFO scheduling</a:t>
            </a:r>
            <a:endParaRPr lang="en-US" sz="1800" dirty="0"/>
          </a:p>
        </p:txBody>
      </p:sp>
      <p:sp>
        <p:nvSpPr>
          <p:cNvPr id="6" name="text-157"/>
          <p:cNvSpPr txBox="1"/>
          <p:nvPr/>
        </p:nvSpPr>
        <p:spPr>
          <a:xfrm>
            <a:off x="457200" y="2743200"/>
            <a:ext cx="2560320" cy="822960"/>
          </a:xfrm>
          <a:prstGeom prst="rect">
            <a:avLst/>
          </a:prstGeom>
          <a:noFill/>
          <a:ln/>
        </p:spPr>
        <p:txBody>
          <a:bodyPr wrap="square" lIns="0" tIns="0" rIns="0" bIns="0" rtlCol="0" anchor="t"/>
          <a:lstStyle/>
          <a:p>
            <a:pPr indent="0" marL="0">
              <a:buNone/>
            </a:pPr>
            <a:r>
              <a:rPr lang="en-US" sz="1400" dirty="0">
                <a:solidFill>
                  <a:schemeClr val="bg2"/>
                </a:solidFill>
              </a:rPr>
              <a:t>Normal flights join at the tail of a custom linked list.</a:t>
            </a:r>
            <a:endParaRPr lang="en-US" sz="1400" dirty="0"/>
          </a:p>
        </p:txBody>
      </p:sp>
      <p:sp>
        <p:nvSpPr>
          <p:cNvPr id="7" name="icon-bg-158"/>
          <p:cNvSpPr/>
          <p:nvPr/>
        </p:nvSpPr>
        <p:spPr>
          <a:xfrm>
            <a:off x="3291840" y="1417320"/>
            <a:ext cx="731520" cy="731520"/>
          </a:xfrm>
          <a:prstGeom prst="ellipse">
            <a:avLst/>
          </a:prstGeom>
          <a:solidFill>
            <a:schemeClr val="accent1"/>
          </a:solidFill>
          <a:ln w="12700">
            <a:solidFill>
              <a:schemeClr val="accent1"/>
            </a:solidFill>
            <a:prstDash val="solid"/>
          </a:ln>
        </p:spPr>
      </p:sp>
      <p:pic>
        <p:nvPicPr>
          <p:cNvPr id="8" name="icon-159" descr="icon">    </p:cNvPr>
          <p:cNvPicPr>
            <a:picLocks noChangeAspect="1"/>
          </p:cNvPicPr>
          <p:nvPr/>
        </p:nvPicPr>
        <p:blipFill>
          <a:blip r:embed="rId2"/>
          <a:stretch>
            <a:fillRect/>
          </a:stretch>
        </p:blipFill>
        <p:spPr>
          <a:xfrm>
            <a:off x="3474720" y="1600200"/>
            <a:ext cx="365760" cy="365760"/>
          </a:xfrm>
          <a:prstGeom prst="rect">
            <a:avLst/>
          </a:prstGeom>
        </p:spPr>
      </p:pic>
      <p:sp>
        <p:nvSpPr>
          <p:cNvPr id="9" name="text-160"/>
          <p:cNvSpPr txBox="1"/>
          <p:nvPr/>
        </p:nvSpPr>
        <p:spPr>
          <a:xfrm>
            <a:off x="3291840" y="2331720"/>
            <a:ext cx="2560320" cy="365760"/>
          </a:xfrm>
          <a:prstGeom prst="rect">
            <a:avLst/>
          </a:prstGeom>
          <a:noFill/>
          <a:ln/>
        </p:spPr>
        <p:txBody>
          <a:bodyPr wrap="square" lIns="0" tIns="0" rIns="0" bIns="0" rtlCol="0" anchor="t"/>
          <a:lstStyle/>
          <a:p>
            <a:pPr indent="0" marL="0">
              <a:buNone/>
            </a:pPr>
            <a:r>
              <a:rPr lang="en-US" sz="1800" b="1" dirty="0">
                <a:solidFill>
                  <a:schemeClr val="bg1"/>
                </a:solidFill>
              </a:rPr>
              <a:t>Emergency preemption</a:t>
            </a:r>
            <a:endParaRPr lang="en-US" sz="1800" dirty="0"/>
          </a:p>
        </p:txBody>
      </p:sp>
      <p:sp>
        <p:nvSpPr>
          <p:cNvPr id="10" name="text-161"/>
          <p:cNvSpPr txBox="1"/>
          <p:nvPr/>
        </p:nvSpPr>
        <p:spPr>
          <a:xfrm>
            <a:off x="3291840" y="2743200"/>
            <a:ext cx="2560320" cy="822960"/>
          </a:xfrm>
          <a:prstGeom prst="rect">
            <a:avLst/>
          </a:prstGeom>
          <a:noFill/>
          <a:ln/>
        </p:spPr>
        <p:txBody>
          <a:bodyPr wrap="square" lIns="0" tIns="0" rIns="0" bIns="0" rtlCol="0" anchor="t"/>
          <a:lstStyle/>
          <a:p>
            <a:pPr indent="0" marL="0">
              <a:buNone/>
            </a:pPr>
            <a:r>
              <a:rPr lang="en-US" sz="1400" dirty="0">
                <a:solidFill>
                  <a:schemeClr val="bg2"/>
                </a:solidFill>
              </a:rPr>
              <a:t>Emergency flights jump straight to the head in O(1).</a:t>
            </a:r>
            <a:endParaRPr lang="en-US" sz="1400" dirty="0"/>
          </a:p>
        </p:txBody>
      </p:sp>
      <p:sp>
        <p:nvSpPr>
          <p:cNvPr id="11" name="icon-bg-162"/>
          <p:cNvSpPr/>
          <p:nvPr/>
        </p:nvSpPr>
        <p:spPr>
          <a:xfrm>
            <a:off x="6126480" y="1417320"/>
            <a:ext cx="731520" cy="731520"/>
          </a:xfrm>
          <a:prstGeom prst="ellipse">
            <a:avLst/>
          </a:prstGeom>
          <a:solidFill>
            <a:schemeClr val="accent1"/>
          </a:solidFill>
          <a:ln w="12700">
            <a:solidFill>
              <a:schemeClr val="accent1"/>
            </a:solidFill>
            <a:prstDash val="solid"/>
          </a:ln>
        </p:spPr>
      </p:sp>
      <p:pic>
        <p:nvPicPr>
          <p:cNvPr id="12" name="icon-163" descr="icon">    </p:cNvPr>
          <p:cNvPicPr>
            <a:picLocks noChangeAspect="1"/>
          </p:cNvPicPr>
          <p:nvPr/>
        </p:nvPicPr>
        <p:blipFill>
          <a:blip r:embed="rId3"/>
          <a:stretch>
            <a:fillRect/>
          </a:stretch>
        </p:blipFill>
        <p:spPr>
          <a:xfrm>
            <a:off x="6309360" y="1600200"/>
            <a:ext cx="365760" cy="365760"/>
          </a:xfrm>
          <a:prstGeom prst="rect">
            <a:avLst/>
          </a:prstGeom>
        </p:spPr>
      </p:pic>
      <p:sp>
        <p:nvSpPr>
          <p:cNvPr id="13" name="text-164"/>
          <p:cNvSpPr txBox="1"/>
          <p:nvPr/>
        </p:nvSpPr>
        <p:spPr>
          <a:xfrm>
            <a:off x="6126480" y="2331720"/>
            <a:ext cx="2560320" cy="365760"/>
          </a:xfrm>
          <a:prstGeom prst="rect">
            <a:avLst/>
          </a:prstGeom>
          <a:noFill/>
          <a:ln/>
        </p:spPr>
        <p:txBody>
          <a:bodyPr wrap="square" lIns="0" tIns="0" rIns="0" bIns="0" rtlCol="0" anchor="t"/>
          <a:lstStyle/>
          <a:p>
            <a:pPr indent="0" marL="0">
              <a:buNone/>
            </a:pPr>
            <a:r>
              <a:rPr lang="en-US" sz="1800" b="1" dirty="0">
                <a:solidFill>
                  <a:schemeClr val="bg1"/>
                </a:solidFill>
              </a:rPr>
              <a:t>Logs and tests</a:t>
            </a:r>
            <a:endParaRPr lang="en-US" sz="1800" dirty="0"/>
          </a:p>
        </p:txBody>
      </p:sp>
      <p:sp>
        <p:nvSpPr>
          <p:cNvPr id="14" name="text-165"/>
          <p:cNvSpPr txBox="1"/>
          <p:nvPr/>
        </p:nvSpPr>
        <p:spPr>
          <a:xfrm>
            <a:off x="6126480" y="2743200"/>
            <a:ext cx="2560320" cy="822960"/>
          </a:xfrm>
          <a:prstGeom prst="rect">
            <a:avLst/>
          </a:prstGeom>
          <a:noFill/>
          <a:ln/>
        </p:spPr>
        <p:txBody>
          <a:bodyPr wrap="square" lIns="0" tIns="0" rIns="0" bIns="0" rtlCol="0" anchor="t"/>
          <a:lstStyle/>
          <a:p>
            <a:pPr indent="0" marL="0">
              <a:buNone/>
            </a:pPr>
            <a:r>
              <a:rPr lang="en-US" sz="1400" dirty="0">
                <a:solidFill>
                  <a:schemeClr val="bg2"/>
                </a:solidFill>
              </a:rPr>
              <a:t>Append-mode history and headless automated checks.</a:t>
            </a:r>
            <a:endParaRPr lang="en-US" sz="1400" dirty="0"/>
          </a:p>
        </p:txBody>
      </p:sp>
      <p:sp>
        <p:nvSpPr>
          <p:cNvPr id="15" name="text-166"/>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2400" b="1" dirty="0">
                <a:solidFill>
                  <a:schemeClr val="accent1"/>
                </a:solidFill>
              </a:rPr>
              <a:t>Thank you</a:t>
            </a:r>
            <a:endParaRPr lang="en-US" sz="2400" dirty="0"/>
          </a:p>
          <a:p>
            <a:pPr indent="0" marL="0">
              <a:buNone/>
            </a:pPr>
            <a:r>
              <a:rPr lang="en-US" sz="1400" dirty="0">
                <a:solidFill>
                  <a:schemeClr val="bg2"/>
                </a:solidFill>
              </a:rPr>
              <a:t>github.com/jvstin47/airport-runway-scheduler</a:t>
            </a:r>
            <a:endParaRPr lang="en-US" sz="2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Runway Night">
  <a:themeElements>
    <a:clrScheme name="Runway Night">
      <a:dk1>
        <a:srgbClr val="0B1F33"/>
      </a:dk1>
      <a:lt1>
        <a:srgbClr val="FFFFFF"/>
      </a:lt1>
      <a:dk2>
        <a:srgbClr val="1B3A5C"/>
      </a:dk2>
      <a:lt2>
        <a:srgbClr val="EEF3F8"/>
      </a:lt2>
      <a:accent1>
        <a:srgbClr val="F5A623"/>
      </a:accent1>
      <a:accent2>
        <a:srgbClr val="2E86C1"/>
      </a:accent2>
      <a:accent3>
        <a:srgbClr val="27AE60"/>
      </a:accent3>
      <a:accent4>
        <a:srgbClr val="E74C3C"/>
      </a:accent4>
      <a:accent5>
        <a:srgbClr val="8E6BBF"/>
      </a:accent5>
      <a:accent6>
        <a:srgbClr val="7F8C9A"/>
      </a:accent6>
      <a:hlink>
        <a:srgbClr val="2E86C1"/>
      </a:hlink>
      <a:folHlink>
        <a:srgbClr val="8E6BBF"/>
      </a:folHlink>
    </a:clrScheme>
    <a:fontScheme name="Runway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Airport Runway Scheduling System</dc:title>
  <dc:subject>PptxGenJS Presentation</dc:subject>
  <dc:creator>Justin, Elna, Sruthika, Devika</dc:creator>
  <cp:lastModifiedBy>Justin, Elna, Sruthika, Devika</cp:lastModifiedBy>
  <cp:revision>1</cp:revision>
  <dcterms:created xsi:type="dcterms:W3CDTF">2026-10-25T16:36:01Z</dcterms:created>
  <dcterms:modified xsi:type="dcterms:W3CDTF">2026-10-25T16:36:01Z</dcterms:modified>
</cp:coreProperties>
</file>